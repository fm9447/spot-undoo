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Plus Jakarta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font" Target="fonts/PlusJakartaSans-regular.fntdata"/><Relationship Id="rId17" Type="http://schemas.openxmlformats.org/officeDocument/2006/relationships/font" Target="fonts/PlusJakartaSans-bold.fntdata"/><Relationship Id="rId18" Type="http://schemas.openxmlformats.org/officeDocument/2006/relationships/font" Target="fonts/PlusJakartaSans-italic.fntdata"/><Relationship Id="rId19" Type="http://schemas.openxmlformats.org/officeDocument/2006/relationships/font" Target="fonts/PlusJakarta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3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3.png"/><Relationship Id="rId7" Type="http://schemas.openxmlformats.org/officeDocument/2006/relationships/image" Target="../media/image12.png"/><Relationship Id="rId8" Type="http://schemas.openxmlformats.org/officeDocument/2006/relationships/image" Target="../media/image11.png"/><Relationship Id="rId9" Type="http://schemas.openxmlformats.org/officeDocument/2006/relationships/image" Target="../media/image5.png"/><Relationship Id="rId10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32.png"/><Relationship Id="rId6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8.png"/><Relationship Id="rId5" Type="http://schemas.openxmlformats.org/officeDocument/2006/relationships/image" Target="../media/image2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21.png"/><Relationship Id="rId5" Type="http://schemas.openxmlformats.org/officeDocument/2006/relationships/image" Target="../media/image16.png"/><Relationship Id="rId6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7.png"/><Relationship Id="rId7" Type="http://schemas.openxmlformats.org/officeDocument/2006/relationships/image" Target="../media/image29.png"/><Relationship Id="rId8" Type="http://schemas.openxmlformats.org/officeDocument/2006/relationships/image" Target="../media/image2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28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3BF4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2000225" y="1795512"/>
            <a:ext cx="8191500" cy="3267000"/>
          </a:xfrm>
          <a:prstGeom prst="roundRect">
            <a:avLst>
              <a:gd fmla="val 8163" name="adj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4243362" y="2281287"/>
            <a:ext cx="1771800" cy="324000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6129337" y="2281237"/>
            <a:ext cx="1819200" cy="3240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5158350" y="4094000"/>
            <a:ext cx="1875300" cy="447600"/>
          </a:xfrm>
          <a:prstGeom prst="roundRect">
            <a:avLst>
              <a:gd fmla="val 34042" name="adj"/>
            </a:avLst>
          </a:prstGeom>
          <a:solidFill>
            <a:srgbClr val="F4F6F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9" name="Google Shape;8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95787" y="2376487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" name="Google Shape;9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1737" y="2376487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 title="qwen.png"/>
          <p:cNvPicPr preferRelativeResize="0"/>
          <p:nvPr/>
        </p:nvPicPr>
        <p:blipFill rotWithShape="1">
          <a:blip r:embed="rId6">
            <a:alphaModFix/>
          </a:blip>
          <a:srcRect b="0" l="583" r="573" t="0"/>
          <a:stretch/>
        </p:blipFill>
        <p:spPr>
          <a:xfrm>
            <a:off x="5305250" y="4213023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/>
        </p:nvSpPr>
        <p:spPr>
          <a:xfrm>
            <a:off x="1557907" y="2795637"/>
            <a:ext cx="90762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SPOT</a:t>
            </a:r>
            <a:r>
              <a:rPr b="1" lang="en-US" sz="5100">
                <a:latin typeface="Plus Jakarta Sans"/>
                <a:ea typeface="Plus Jakarta Sans"/>
                <a:cs typeface="Plus Jakarta Sans"/>
                <a:sym typeface="Plus Jakarta Sans"/>
              </a:rPr>
              <a:t>-U</a:t>
            </a:r>
            <a:r>
              <a:rPr b="1" i="0" lang="en-US" sz="51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NDOO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1774006" y="3557637"/>
            <a:ext cx="8643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Local AI Travel &amp; Hidden-Spots Discovery Engine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4345756" y="2338437"/>
            <a:ext cx="1757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HACKATHON BUILD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6244803" y="2338437"/>
            <a:ext cx="1797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LOCAL AI POWERED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5589675" y="4231250"/>
            <a:ext cx="1186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spot-undo-qwen (Qwen 2.5:3B)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/>
          <p:nvPr/>
        </p:nvSpPr>
        <p:spPr>
          <a:xfrm>
            <a:off x="8924925" y="786705"/>
            <a:ext cx="2657475" cy="3238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609600" y="2565052"/>
            <a:ext cx="5372100" cy="2647950"/>
          </a:xfrm>
          <a:prstGeom prst="roundRect">
            <a:avLst>
              <a:gd fmla="val 5755" name="adj"/>
            </a:avLst>
          </a:prstGeom>
          <a:solidFill>
            <a:srgbClr val="FFF1F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6210300" y="2565052"/>
            <a:ext cx="5372100" cy="2647950"/>
          </a:xfrm>
          <a:prstGeom prst="roundRect">
            <a:avLst>
              <a:gd fmla="val 5755" name="adj"/>
            </a:avLst>
          </a:prstGeom>
          <a:solidFill>
            <a:srgbClr val="ECFDF5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609600" y="466725"/>
            <a:ext cx="1114425" cy="219075"/>
          </a:xfrm>
          <a:prstGeom prst="roundRect">
            <a:avLst>
              <a:gd fmla="val 26086" name="adj"/>
            </a:avLst>
          </a:prstGeom>
          <a:solidFill>
            <a:srgbClr val="0B3BF4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6" name="Google Shape;10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77325" y="881955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2812702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57950" y="2812702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1550" y="2927002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57962" y="2927002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7250" y="3417540"/>
            <a:ext cx="1238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7250" y="3989040"/>
            <a:ext cx="1238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7250" y="4560540"/>
            <a:ext cx="1238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57950" y="341754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57950" y="398904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57950" y="4560540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 txBox="1"/>
          <p:nvPr/>
        </p:nvSpPr>
        <p:spPr>
          <a:xfrm>
            <a:off x="9248775" y="843855"/>
            <a:ext cx="22955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Focus: Transit &amp; Layover Travelers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685800" y="495300"/>
            <a:ext cx="10572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CHALLENGE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609600" y="733425"/>
            <a:ext cx="8782347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Travel Friction vs. Hyper-Local Discovery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1390650" y="2888902"/>
            <a:ext cx="282535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Layover Dilemma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1076325" y="3384202"/>
            <a:ext cx="475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EF44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Generic travel apps often prioritize major attractions over lesser-known local spots. 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1076325" y="3955702"/>
            <a:ext cx="475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EF44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Limited free time makes planning around departure deadlines difficult. 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1076325" y="4527202"/>
            <a:ext cx="475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EF44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Unreliable connectivity can disrupt cloud-dependent planning tools. 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6991350" y="2888902"/>
            <a:ext cx="3275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SPOT-UNDOO Engine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6705600" y="3384202"/>
            <a:ext cx="4724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Hyper-local discovery: surface relevant places beyond typical tourist attractions. 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6705600" y="3955702"/>
            <a:ext cx="4724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Time- and budget-aware planning for short trips. 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6705600" y="4527202"/>
            <a:ext cx="4724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Local AI inference using Qwen 2.5:3B Edge through Ollama.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9972675" y="786705"/>
            <a:ext cx="1609725" cy="3238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5535662" y="1377255"/>
            <a:ext cx="6046737" cy="5023544"/>
          </a:xfrm>
          <a:prstGeom prst="roundRect">
            <a:avLst>
              <a:gd fmla="val 3033" name="adj"/>
            </a:avLst>
          </a:prstGeom>
          <a:solidFill>
            <a:srgbClr val="F8FAF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609600" y="466725"/>
            <a:ext cx="533400" cy="219075"/>
          </a:xfrm>
          <a:prstGeom prst="roundRect">
            <a:avLst>
              <a:gd fmla="val 26086" name="adj"/>
            </a:avLst>
          </a:prstGeom>
          <a:solidFill>
            <a:srgbClr val="0B3BF4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609600" y="2322165"/>
            <a:ext cx="4697462" cy="923925"/>
          </a:xfrm>
          <a:prstGeom prst="roundRect">
            <a:avLst>
              <a:gd fmla="val 16494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609600" y="3398490"/>
            <a:ext cx="4697462" cy="981075"/>
          </a:xfrm>
          <a:prstGeom prst="roundRect">
            <a:avLst>
              <a:gd fmla="val 15533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609600" y="4531965"/>
            <a:ext cx="4697462" cy="923925"/>
          </a:xfrm>
          <a:prstGeom prst="roundRect">
            <a:avLst>
              <a:gd fmla="val 16494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10191750" y="1624905"/>
            <a:ext cx="1143000" cy="219075"/>
          </a:xfrm>
          <a:prstGeom prst="roundRect">
            <a:avLst>
              <a:gd fmla="val 26086" name="adj"/>
            </a:avLst>
          </a:prstGeom>
          <a:solidFill>
            <a:srgbClr val="10B98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5783312" y="3007965"/>
            <a:ext cx="5551437" cy="561975"/>
          </a:xfrm>
          <a:prstGeom prst="roundRect">
            <a:avLst>
              <a:gd fmla="val 27118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/>
          <p:nvPr/>
        </p:nvSpPr>
        <p:spPr>
          <a:xfrm>
            <a:off x="5783312" y="3646140"/>
            <a:ext cx="5551437" cy="561975"/>
          </a:xfrm>
          <a:prstGeom prst="roundRect">
            <a:avLst>
              <a:gd fmla="val 27118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5783312" y="4284315"/>
            <a:ext cx="5551437" cy="561975"/>
          </a:xfrm>
          <a:prstGeom prst="roundRect">
            <a:avLst>
              <a:gd fmla="val 27118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3" name="Google Shape;14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25075" y="881955"/>
            <a:ext cx="1047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25394" y="6029325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5"/>
          <p:cNvSpPr txBox="1"/>
          <p:nvPr/>
        </p:nvSpPr>
        <p:spPr>
          <a:xfrm>
            <a:off x="10287000" y="843855"/>
            <a:ext cx="12573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Auto-GPS Active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685800" y="495300"/>
            <a:ext cx="4762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TAB 01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609600" y="733425"/>
            <a:ext cx="7475934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Explore: Dual Location &amp; Discovery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5089382" y="6010275"/>
            <a:ext cx="6939297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Direct Google Maps integration for exact navigation coordinates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781050" y="2493615"/>
            <a:ext cx="544320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📍 Dual Location Controls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781050" y="2731740"/>
            <a:ext cx="444981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Seamless toggle between live Auto-GPS coordinates and manual text search for planned stops.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781050" y="3569940"/>
            <a:ext cx="444981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🗺 Map / Grid Dynamic Views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781050" y="3865215"/>
            <a:ext cx="444981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Scatter pins with photo previews, ratings, and live distance callouts across custom categories.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781050" y="4703415"/>
            <a:ext cx="544320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📄 Detailed Bottom Sheets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781050" y="4941540"/>
            <a:ext cx="444981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Inspect schedule bounds, return duration, transit fees, and instant deep links to Google Maps.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5783312" y="1643955"/>
            <a:ext cx="2488406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Live Kerala Multi-Hub Dataset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10267950" y="1653480"/>
            <a:ext cx="10858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70+ SPOTS ACROSS 7 KERALA HUBS</a:t>
            </a:r>
            <a:endParaRPr/>
          </a:p>
        </p:txBody>
      </p:sp>
      <p:sp>
        <p:nvSpPr>
          <p:cNvPr id="157" name="Google Shape;157;p15"/>
          <p:cNvSpPr txBox="1"/>
          <p:nvPr/>
        </p:nvSpPr>
        <p:spPr>
          <a:xfrm>
            <a:off x="5935712" y="3131790"/>
            <a:ext cx="205978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Nila River Secret Banyan</a:t>
            </a:r>
            <a:endParaRPr/>
          </a:p>
        </p:txBody>
      </p:sp>
      <p:sp>
        <p:nvSpPr>
          <p:cNvPr id="158" name="Google Shape;158;p15"/>
          <p:cNvSpPr txBox="1"/>
          <p:nvPr/>
        </p:nvSpPr>
        <p:spPr>
          <a:xfrm>
            <a:off x="5935712" y="3303240"/>
            <a:ext cx="2059781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Scenic Riverside • 2.1 km away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10172700" y="3122265"/>
            <a:ext cx="10096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B3BF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₹40 • 45m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10172700" y="3293715"/>
            <a:ext cx="10096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★ 4.9 (128)</a:t>
            </a:r>
            <a:endParaRPr/>
          </a:p>
        </p:txBody>
      </p:sp>
      <p:sp>
        <p:nvSpPr>
          <p:cNvPr id="161" name="Google Shape;161;p15"/>
          <p:cNvSpPr txBox="1"/>
          <p:nvPr/>
        </p:nvSpPr>
        <p:spPr>
          <a:xfrm>
            <a:off x="5935712" y="3769965"/>
            <a:ext cx="1714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Amma’s Crispy Vada</a:t>
            </a:r>
            <a:endParaRPr/>
          </a:p>
        </p:txBody>
      </p:sp>
      <p:sp>
        <p:nvSpPr>
          <p:cNvPr id="162" name="Google Shape;162;p15"/>
          <p:cNvSpPr txBox="1"/>
          <p:nvPr/>
        </p:nvSpPr>
        <p:spPr>
          <a:xfrm>
            <a:off x="5935712" y="3941415"/>
            <a:ext cx="17145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Local Food • 1.2 km away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10191750" y="3760440"/>
            <a:ext cx="990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B3BF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₹25 • 20m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10191750" y="3931890"/>
            <a:ext cx="9906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★ 4.9 (84)</a:t>
            </a:r>
            <a:endParaRPr/>
          </a:p>
        </p:txBody>
      </p:sp>
      <p:sp>
        <p:nvSpPr>
          <p:cNvPr id="165" name="Google Shape;165;p15"/>
          <p:cNvSpPr txBox="1"/>
          <p:nvPr/>
        </p:nvSpPr>
        <p:spPr>
          <a:xfrm>
            <a:off x="5935712" y="4408140"/>
            <a:ext cx="222646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LevelUp Cyber Hub</a:t>
            </a:r>
            <a:endParaRPr/>
          </a:p>
        </p:txBody>
      </p:sp>
      <p:sp>
        <p:nvSpPr>
          <p:cNvPr id="166" name="Google Shape;166;p15"/>
          <p:cNvSpPr txBox="1"/>
          <p:nvPr/>
        </p:nvSpPr>
        <p:spPr>
          <a:xfrm>
            <a:off x="5935712" y="4579590"/>
            <a:ext cx="2226468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Gaming &amp; AC Chill • 3.0 km away</a:t>
            </a:r>
            <a:endParaRPr/>
          </a:p>
        </p:txBody>
      </p:sp>
      <p:sp>
        <p:nvSpPr>
          <p:cNvPr id="167" name="Google Shape;167;p15"/>
          <p:cNvSpPr txBox="1"/>
          <p:nvPr/>
        </p:nvSpPr>
        <p:spPr>
          <a:xfrm>
            <a:off x="10172700" y="4398615"/>
            <a:ext cx="10096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B3BF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₹80 • 60m</a:t>
            </a:r>
            <a:endParaRPr/>
          </a:p>
        </p:txBody>
      </p:sp>
      <p:sp>
        <p:nvSpPr>
          <p:cNvPr id="168" name="Google Shape;168;p15"/>
          <p:cNvSpPr txBox="1"/>
          <p:nvPr/>
        </p:nvSpPr>
        <p:spPr>
          <a:xfrm>
            <a:off x="10172700" y="4570065"/>
            <a:ext cx="10096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★ 4.7 (52)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6"/>
          <p:cNvSpPr/>
          <p:nvPr/>
        </p:nvSpPr>
        <p:spPr>
          <a:xfrm>
            <a:off x="8801100" y="786705"/>
            <a:ext cx="2781300" cy="323850"/>
          </a:xfrm>
          <a:prstGeom prst="roundRect">
            <a:avLst>
              <a:gd fmla="val 50000" name="adj"/>
            </a:avLst>
          </a:prstGeom>
          <a:solidFill>
            <a:srgbClr val="FEF3C7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6"/>
          <p:cNvSpPr/>
          <p:nvPr/>
        </p:nvSpPr>
        <p:spPr>
          <a:xfrm>
            <a:off x="609600" y="1377255"/>
            <a:ext cx="6288137" cy="5023544"/>
          </a:xfrm>
          <a:prstGeom prst="roundRect">
            <a:avLst>
              <a:gd fmla="val 3033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609600" y="466725"/>
            <a:ext cx="552450" cy="219075"/>
          </a:xfrm>
          <a:prstGeom prst="roundRect">
            <a:avLst>
              <a:gd fmla="val 26086" name="adj"/>
            </a:avLst>
          </a:prstGeom>
          <a:solidFill>
            <a:srgbClr val="F59E0B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/>
          <p:nvPr/>
        </p:nvSpPr>
        <p:spPr>
          <a:xfrm>
            <a:off x="7126337" y="2593627"/>
            <a:ext cx="4456062" cy="1304925"/>
          </a:xfrm>
          <a:prstGeom prst="roundRect">
            <a:avLst>
              <a:gd fmla="val 11678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/>
          <p:nvPr/>
        </p:nvSpPr>
        <p:spPr>
          <a:xfrm>
            <a:off x="7126337" y="4050952"/>
            <a:ext cx="4456062" cy="1133475"/>
          </a:xfrm>
          <a:prstGeom prst="roundRect">
            <a:avLst>
              <a:gd fmla="val 13445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6"/>
          <p:cNvSpPr/>
          <p:nvPr/>
        </p:nvSpPr>
        <p:spPr>
          <a:xfrm>
            <a:off x="857250" y="3472755"/>
            <a:ext cx="5792837" cy="571500"/>
          </a:xfrm>
          <a:prstGeom prst="roundRect">
            <a:avLst>
              <a:gd fmla="val 26666" name="adj"/>
            </a:avLst>
          </a:prstGeom>
          <a:solidFill>
            <a:srgbClr val="F1F5F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/>
          <p:nvPr/>
        </p:nvSpPr>
        <p:spPr>
          <a:xfrm>
            <a:off x="857250" y="1853505"/>
            <a:ext cx="1880145" cy="323850"/>
          </a:xfrm>
          <a:prstGeom prst="roundRect">
            <a:avLst>
              <a:gd fmla="val 50000" name="adj"/>
            </a:avLst>
          </a:prstGeom>
          <a:solidFill>
            <a:srgbClr val="0B3BF4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6"/>
          <p:cNvSpPr/>
          <p:nvPr/>
        </p:nvSpPr>
        <p:spPr>
          <a:xfrm>
            <a:off x="2813595" y="1853505"/>
            <a:ext cx="1880145" cy="3238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6"/>
          <p:cNvSpPr/>
          <p:nvPr/>
        </p:nvSpPr>
        <p:spPr>
          <a:xfrm>
            <a:off x="4769941" y="1853505"/>
            <a:ext cx="1880145" cy="3238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6"/>
          <p:cNvSpPr/>
          <p:nvPr/>
        </p:nvSpPr>
        <p:spPr>
          <a:xfrm>
            <a:off x="857250" y="2329755"/>
            <a:ext cx="2820292" cy="781050"/>
          </a:xfrm>
          <a:prstGeom prst="roundRect">
            <a:avLst>
              <a:gd fmla="val 19512" name="adj"/>
            </a:avLst>
          </a:prstGeom>
          <a:solidFill>
            <a:srgbClr val="F8FAF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6"/>
          <p:cNvSpPr/>
          <p:nvPr/>
        </p:nvSpPr>
        <p:spPr>
          <a:xfrm>
            <a:off x="3829942" y="2329755"/>
            <a:ext cx="2820292" cy="781050"/>
          </a:xfrm>
          <a:prstGeom prst="roundRect">
            <a:avLst>
              <a:gd fmla="val 19512" name="adj"/>
            </a:avLst>
          </a:prstGeom>
          <a:solidFill>
            <a:srgbClr val="F8FAF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6"/>
          <p:cNvSpPr/>
          <p:nvPr/>
        </p:nvSpPr>
        <p:spPr>
          <a:xfrm>
            <a:off x="857250" y="4158555"/>
            <a:ext cx="1047750" cy="257175"/>
          </a:xfrm>
          <a:prstGeom prst="roundRect">
            <a:avLst>
              <a:gd fmla="val 50000" name="adj"/>
            </a:avLst>
          </a:prstGeom>
          <a:solidFill>
            <a:srgbClr val="FEF3C7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6"/>
          <p:cNvSpPr/>
          <p:nvPr/>
        </p:nvSpPr>
        <p:spPr>
          <a:xfrm>
            <a:off x="1962150" y="4158555"/>
            <a:ext cx="1181100" cy="257175"/>
          </a:xfrm>
          <a:prstGeom prst="roundRect">
            <a:avLst>
              <a:gd fmla="val 50000" name="adj"/>
            </a:avLst>
          </a:prstGeom>
          <a:solidFill>
            <a:srgbClr val="D1FAE5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6"/>
          <p:cNvSpPr/>
          <p:nvPr/>
        </p:nvSpPr>
        <p:spPr>
          <a:xfrm>
            <a:off x="3200400" y="4158555"/>
            <a:ext cx="1200150" cy="257175"/>
          </a:xfrm>
          <a:prstGeom prst="roundRect">
            <a:avLst>
              <a:gd fmla="val 50000" name="adj"/>
            </a:avLst>
          </a:prstGeom>
          <a:solidFill>
            <a:srgbClr val="E0E7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6"/>
          <p:cNvSpPr/>
          <p:nvPr/>
        </p:nvSpPr>
        <p:spPr>
          <a:xfrm>
            <a:off x="4457700" y="4158555"/>
            <a:ext cx="1047750" cy="257175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9" name="Google Shape;18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53500" y="881955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73987" y="2879377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73987" y="4336702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6"/>
          <p:cNvSpPr txBox="1"/>
          <p:nvPr/>
        </p:nvSpPr>
        <p:spPr>
          <a:xfrm>
            <a:off x="9131300" y="867780"/>
            <a:ext cx="2400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POWERED BY LOCAL QWEN 2.5:3B </a:t>
            </a:r>
            <a:endParaRPr/>
          </a:p>
        </p:txBody>
      </p:sp>
      <p:sp>
        <p:nvSpPr>
          <p:cNvPr id="193" name="Google Shape;193;p16"/>
          <p:cNvSpPr txBox="1"/>
          <p:nvPr/>
        </p:nvSpPr>
        <p:spPr>
          <a:xfrm>
            <a:off x="685800" y="495300"/>
            <a:ext cx="4953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TAB 02</a:t>
            </a:r>
            <a:endParaRPr/>
          </a:p>
        </p:txBody>
      </p:sp>
      <p:sp>
        <p:nvSpPr>
          <p:cNvPr id="194" name="Google Shape;194;p16"/>
          <p:cNvSpPr txBox="1"/>
          <p:nvPr/>
        </p:nvSpPr>
        <p:spPr>
          <a:xfrm>
            <a:off x="609600" y="733425"/>
            <a:ext cx="7575946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Planner: Constraints &amp; Vibe Input</a:t>
            </a:r>
            <a:endParaRPr/>
          </a:p>
        </p:txBody>
      </p:sp>
      <p:sp>
        <p:nvSpPr>
          <p:cNvPr id="195" name="Google Shape;195;p16"/>
          <p:cNvSpPr txBox="1"/>
          <p:nvPr/>
        </p:nvSpPr>
        <p:spPr>
          <a:xfrm>
            <a:off x="857250" y="1624905"/>
            <a:ext cx="724104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TRIP CONTEXT MODE</a:t>
            </a:r>
            <a:endParaRPr/>
          </a:p>
        </p:txBody>
      </p:sp>
      <p:sp>
        <p:nvSpPr>
          <p:cNvPr id="196" name="Google Shape;196;p16"/>
          <p:cNvSpPr txBox="1"/>
          <p:nvPr/>
        </p:nvSpPr>
        <p:spPr>
          <a:xfrm>
            <a:off x="857250" y="3263205"/>
            <a:ext cx="724104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NATURAL LANGUAGE PROMPT</a:t>
            </a:r>
            <a:endParaRPr/>
          </a:p>
        </p:txBody>
      </p:sp>
      <p:sp>
        <p:nvSpPr>
          <p:cNvPr id="197" name="Google Shape;197;p16"/>
          <p:cNvSpPr txBox="1"/>
          <p:nvPr/>
        </p:nvSpPr>
        <p:spPr>
          <a:xfrm>
            <a:off x="971550" y="3587055"/>
            <a:ext cx="565948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9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"I want quiet nature spots near water, amazing local pazhampori, and a gaming cafe with AC before my 5 PM train..." </a:t>
            </a:r>
            <a:endParaRPr/>
          </a:p>
        </p:txBody>
      </p:sp>
      <p:sp>
        <p:nvSpPr>
          <p:cNvPr id="198" name="Google Shape;198;p16"/>
          <p:cNvSpPr txBox="1"/>
          <p:nvPr/>
        </p:nvSpPr>
        <p:spPr>
          <a:xfrm>
            <a:off x="7373987" y="2841277"/>
            <a:ext cx="481801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Deterministic Pre-Filtering</a:t>
            </a:r>
            <a:endParaRPr/>
          </a:p>
        </p:txBody>
      </p:sp>
      <p:sp>
        <p:nvSpPr>
          <p:cNvPr id="199" name="Google Shape;199;p16"/>
          <p:cNvSpPr txBox="1"/>
          <p:nvPr/>
        </p:nvSpPr>
        <p:spPr>
          <a:xfrm>
            <a:off x="7373987" y="3136552"/>
            <a:ext cx="405601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Prior to LLM reasoning, candidate spots are strictly filtered by transit radius and budget ceiling to prevent hallucinated impossible routes.</a:t>
            </a:r>
            <a:endParaRPr/>
          </a:p>
        </p:txBody>
      </p:sp>
      <p:sp>
        <p:nvSpPr>
          <p:cNvPr id="200" name="Google Shape;200;p16"/>
          <p:cNvSpPr txBox="1"/>
          <p:nvPr/>
        </p:nvSpPr>
        <p:spPr>
          <a:xfrm>
            <a:off x="7373987" y="4298602"/>
            <a:ext cx="481801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Safety Buffer Guarantee</a:t>
            </a:r>
            <a:endParaRPr/>
          </a:p>
        </p:txBody>
      </p:sp>
      <p:sp>
        <p:nvSpPr>
          <p:cNvPr id="201" name="Google Shape;201;p16"/>
          <p:cNvSpPr txBox="1"/>
          <p:nvPr/>
        </p:nvSpPr>
        <p:spPr>
          <a:xfrm>
            <a:off x="7373987" y="4593877"/>
            <a:ext cx="405601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non-negotiable 30-minute return cushion is locked into layover mode, safeguarding users against missed connections.</a:t>
            </a:r>
            <a:endParaRPr/>
          </a:p>
        </p:txBody>
      </p:sp>
      <p:sp>
        <p:nvSpPr>
          <p:cNvPr id="202" name="Google Shape;202;p16"/>
          <p:cNvSpPr txBox="1"/>
          <p:nvPr/>
        </p:nvSpPr>
        <p:spPr>
          <a:xfrm>
            <a:off x="755581" y="1910655"/>
            <a:ext cx="2083482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🚆 Layover</a:t>
            </a:r>
            <a:endParaRPr/>
          </a:p>
        </p:txBody>
      </p:sp>
      <p:sp>
        <p:nvSpPr>
          <p:cNvPr id="203" name="Google Shape;203;p16"/>
          <p:cNvSpPr txBox="1"/>
          <p:nvPr/>
        </p:nvSpPr>
        <p:spPr>
          <a:xfrm>
            <a:off x="2711927" y="1910655"/>
            <a:ext cx="2083482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⚡ Quick Free Time</a:t>
            </a:r>
            <a:endParaRPr/>
          </a:p>
        </p:txBody>
      </p:sp>
      <p:sp>
        <p:nvSpPr>
          <p:cNvPr id="204" name="Google Shape;204;p16"/>
          <p:cNvSpPr txBox="1"/>
          <p:nvPr/>
        </p:nvSpPr>
        <p:spPr>
          <a:xfrm>
            <a:off x="4668273" y="1910655"/>
            <a:ext cx="2083482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🎒 Full Day</a:t>
            </a:r>
            <a:endParaRPr/>
          </a:p>
        </p:txBody>
      </p:sp>
      <p:sp>
        <p:nvSpPr>
          <p:cNvPr id="205" name="Google Shape;205;p16"/>
          <p:cNvSpPr txBox="1"/>
          <p:nvPr/>
        </p:nvSpPr>
        <p:spPr>
          <a:xfrm>
            <a:off x="952500" y="4196655"/>
            <a:ext cx="9525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🍜 Street Food</a:t>
            </a:r>
            <a:endParaRPr/>
          </a:p>
        </p:txBody>
      </p:sp>
      <p:sp>
        <p:nvSpPr>
          <p:cNvPr id="206" name="Google Shape;206;p16"/>
          <p:cNvSpPr txBox="1"/>
          <p:nvPr/>
        </p:nvSpPr>
        <p:spPr>
          <a:xfrm>
            <a:off x="2057400" y="4196655"/>
            <a:ext cx="10858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🌿 Hidden Nature</a:t>
            </a:r>
            <a:endParaRPr/>
          </a:p>
        </p:txBody>
      </p:sp>
      <p:sp>
        <p:nvSpPr>
          <p:cNvPr id="207" name="Google Shape;207;p16"/>
          <p:cNvSpPr txBox="1"/>
          <p:nvPr/>
        </p:nvSpPr>
        <p:spPr>
          <a:xfrm>
            <a:off x="3295650" y="4196655"/>
            <a:ext cx="11049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🎮 Gaming &amp; Chill</a:t>
            </a:r>
            <a:endParaRPr/>
          </a:p>
        </p:txBody>
      </p:sp>
      <p:sp>
        <p:nvSpPr>
          <p:cNvPr id="208" name="Google Shape;208;p16"/>
          <p:cNvSpPr txBox="1"/>
          <p:nvPr/>
        </p:nvSpPr>
        <p:spPr>
          <a:xfrm>
            <a:off x="4552950" y="4196655"/>
            <a:ext cx="9525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☕ Chai &amp; View</a:t>
            </a:r>
            <a:endParaRPr/>
          </a:p>
        </p:txBody>
      </p:sp>
      <p:sp>
        <p:nvSpPr>
          <p:cNvPr id="209" name="Google Shape;209;p16"/>
          <p:cNvSpPr txBox="1"/>
          <p:nvPr/>
        </p:nvSpPr>
        <p:spPr>
          <a:xfrm>
            <a:off x="990600" y="2463105"/>
            <a:ext cx="3191991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AVAILABLE TIME</a:t>
            </a:r>
            <a:endParaRPr/>
          </a:p>
        </p:txBody>
      </p:sp>
      <p:sp>
        <p:nvSpPr>
          <p:cNvPr id="210" name="Google Shape;210;p16"/>
          <p:cNvSpPr txBox="1"/>
          <p:nvPr/>
        </p:nvSpPr>
        <p:spPr>
          <a:xfrm>
            <a:off x="990600" y="2605980"/>
            <a:ext cx="319199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 Hours</a:t>
            </a:r>
            <a:endParaRPr/>
          </a:p>
        </p:txBody>
      </p:sp>
      <p:sp>
        <p:nvSpPr>
          <p:cNvPr id="211" name="Google Shape;211;p16"/>
          <p:cNvSpPr txBox="1"/>
          <p:nvPr/>
        </p:nvSpPr>
        <p:spPr>
          <a:xfrm>
            <a:off x="990600" y="2844105"/>
            <a:ext cx="319199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EF44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🔒 30m buffer locked</a:t>
            </a:r>
            <a:endParaRPr/>
          </a:p>
        </p:txBody>
      </p:sp>
      <p:sp>
        <p:nvSpPr>
          <p:cNvPr id="212" name="Google Shape;212;p16"/>
          <p:cNvSpPr txBox="1"/>
          <p:nvPr/>
        </p:nvSpPr>
        <p:spPr>
          <a:xfrm>
            <a:off x="3963292" y="2463105"/>
            <a:ext cx="3191991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MAX BUDGET</a:t>
            </a:r>
            <a:endParaRPr/>
          </a:p>
        </p:txBody>
      </p:sp>
      <p:sp>
        <p:nvSpPr>
          <p:cNvPr id="213" name="Google Shape;213;p16"/>
          <p:cNvSpPr txBox="1"/>
          <p:nvPr/>
        </p:nvSpPr>
        <p:spPr>
          <a:xfrm>
            <a:off x="3963292" y="2605980"/>
            <a:ext cx="319199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₹500 </a:t>
            </a:r>
            <a:r>
              <a:rPr b="1" i="0" lang="en-US" sz="9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/person</a:t>
            </a:r>
            <a:endParaRPr/>
          </a:p>
        </p:txBody>
      </p:sp>
      <p:sp>
        <p:nvSpPr>
          <p:cNvPr id="214" name="Google Shape;214;p16"/>
          <p:cNvSpPr txBox="1"/>
          <p:nvPr/>
        </p:nvSpPr>
        <p:spPr>
          <a:xfrm>
            <a:off x="3963292" y="2844105"/>
            <a:ext cx="3191991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INR validated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9" name="Google Shape;21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7"/>
          <p:cNvSpPr/>
          <p:nvPr/>
        </p:nvSpPr>
        <p:spPr>
          <a:xfrm>
            <a:off x="9601200" y="786705"/>
            <a:ext cx="1981200" cy="323850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7"/>
          <p:cNvSpPr/>
          <p:nvPr/>
        </p:nvSpPr>
        <p:spPr>
          <a:xfrm>
            <a:off x="609600" y="1377255"/>
            <a:ext cx="6184850" cy="5023544"/>
          </a:xfrm>
          <a:prstGeom prst="roundRect">
            <a:avLst>
              <a:gd fmla="val 3033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7"/>
          <p:cNvSpPr/>
          <p:nvPr/>
        </p:nvSpPr>
        <p:spPr>
          <a:xfrm>
            <a:off x="7023050" y="1377255"/>
            <a:ext cx="4559349" cy="5023544"/>
          </a:xfrm>
          <a:prstGeom prst="roundRect">
            <a:avLst>
              <a:gd fmla="val 3342" name="adj"/>
            </a:avLst>
          </a:prstGeom>
          <a:solidFill>
            <a:srgbClr val="F8FAF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7"/>
          <p:cNvSpPr/>
          <p:nvPr/>
        </p:nvSpPr>
        <p:spPr>
          <a:xfrm>
            <a:off x="609600" y="466725"/>
            <a:ext cx="1047750" cy="219075"/>
          </a:xfrm>
          <a:prstGeom prst="roundRect">
            <a:avLst>
              <a:gd fmla="val 26086" name="adj"/>
            </a:avLst>
          </a:prstGeom>
          <a:solidFill>
            <a:srgbClr val="10B98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7"/>
          <p:cNvSpPr/>
          <p:nvPr/>
        </p:nvSpPr>
        <p:spPr>
          <a:xfrm>
            <a:off x="857250" y="5695950"/>
            <a:ext cx="5689550" cy="457200"/>
          </a:xfrm>
          <a:prstGeom prst="roundRect">
            <a:avLst>
              <a:gd fmla="val 33333" name="adj"/>
            </a:avLst>
          </a:prstGeom>
          <a:solidFill>
            <a:srgbClr val="F59E0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7"/>
          <p:cNvSpPr/>
          <p:nvPr/>
        </p:nvSpPr>
        <p:spPr>
          <a:xfrm>
            <a:off x="7270700" y="2603152"/>
            <a:ext cx="1819275" cy="219075"/>
          </a:xfrm>
          <a:prstGeom prst="roundRect">
            <a:avLst>
              <a:gd fmla="val 26086" name="adj"/>
            </a:avLst>
          </a:prstGeom>
          <a:solidFill>
            <a:srgbClr val="F59E0B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7"/>
          <p:cNvSpPr/>
          <p:nvPr/>
        </p:nvSpPr>
        <p:spPr>
          <a:xfrm>
            <a:off x="7270700" y="4070002"/>
            <a:ext cx="4064049" cy="571500"/>
          </a:xfrm>
          <a:prstGeom prst="roundRect">
            <a:avLst>
              <a:gd fmla="val 26666" name="adj"/>
            </a:avLst>
          </a:prstGeom>
          <a:solidFill>
            <a:srgbClr val="FEF3C7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7"/>
          <p:cNvSpPr/>
          <p:nvPr/>
        </p:nvSpPr>
        <p:spPr>
          <a:xfrm>
            <a:off x="5127575" y="1624905"/>
            <a:ext cx="1419225" cy="219075"/>
          </a:xfrm>
          <a:prstGeom prst="roundRect">
            <a:avLst>
              <a:gd fmla="val 26086" name="adj"/>
            </a:avLst>
          </a:prstGeom>
          <a:solidFill>
            <a:srgbClr val="0B3BF4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7"/>
          <p:cNvSpPr/>
          <p:nvPr/>
        </p:nvSpPr>
        <p:spPr>
          <a:xfrm>
            <a:off x="990600" y="3431827"/>
            <a:ext cx="19050" cy="1428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7"/>
          <p:cNvSpPr/>
          <p:nvPr/>
        </p:nvSpPr>
        <p:spPr>
          <a:xfrm>
            <a:off x="990600" y="4127152"/>
            <a:ext cx="19050" cy="1428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7"/>
          <p:cNvSpPr/>
          <p:nvPr/>
        </p:nvSpPr>
        <p:spPr>
          <a:xfrm>
            <a:off x="7270700" y="3393727"/>
            <a:ext cx="1984325" cy="523875"/>
          </a:xfrm>
          <a:prstGeom prst="roundRect">
            <a:avLst>
              <a:gd fmla="val 29090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7"/>
          <p:cNvSpPr/>
          <p:nvPr/>
        </p:nvSpPr>
        <p:spPr>
          <a:xfrm>
            <a:off x="9350275" y="3393727"/>
            <a:ext cx="1984474" cy="523875"/>
          </a:xfrm>
          <a:prstGeom prst="roundRect">
            <a:avLst>
              <a:gd fmla="val 29090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7"/>
          <p:cNvSpPr/>
          <p:nvPr/>
        </p:nvSpPr>
        <p:spPr>
          <a:xfrm>
            <a:off x="857250" y="3007965"/>
            <a:ext cx="266700" cy="266700"/>
          </a:xfrm>
          <a:prstGeom prst="roundRect">
            <a:avLst>
              <a:gd fmla="val 50000" name="adj"/>
            </a:avLst>
          </a:prstGeom>
          <a:solidFill>
            <a:srgbClr val="0B3BF4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7"/>
          <p:cNvSpPr/>
          <p:nvPr/>
        </p:nvSpPr>
        <p:spPr>
          <a:xfrm>
            <a:off x="1238250" y="2946052"/>
            <a:ext cx="5308550" cy="390525"/>
          </a:xfrm>
          <a:prstGeom prst="roundRect">
            <a:avLst>
              <a:gd fmla="val 39024" name="adj"/>
            </a:avLst>
          </a:prstGeom>
          <a:solidFill>
            <a:srgbClr val="EFF6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7"/>
          <p:cNvSpPr/>
          <p:nvPr/>
        </p:nvSpPr>
        <p:spPr>
          <a:xfrm>
            <a:off x="857250" y="3717577"/>
            <a:ext cx="266700" cy="266700"/>
          </a:xfrm>
          <a:prstGeom prst="roundRect">
            <a:avLst>
              <a:gd fmla="val 50000" name="adj"/>
            </a:avLst>
          </a:prstGeom>
          <a:solidFill>
            <a:srgbClr val="0B3BF4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7"/>
          <p:cNvSpPr/>
          <p:nvPr/>
        </p:nvSpPr>
        <p:spPr>
          <a:xfrm>
            <a:off x="1238250" y="3669952"/>
            <a:ext cx="5308550" cy="361950"/>
          </a:xfrm>
          <a:prstGeom prst="roundRect">
            <a:avLst>
              <a:gd fmla="val 42105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7"/>
          <p:cNvSpPr/>
          <p:nvPr/>
        </p:nvSpPr>
        <p:spPr>
          <a:xfrm>
            <a:off x="857250" y="4412902"/>
            <a:ext cx="266700" cy="266700"/>
          </a:xfrm>
          <a:prstGeom prst="roundRect">
            <a:avLst>
              <a:gd fmla="val 50000" name="adj"/>
            </a:avLst>
          </a:prstGeom>
          <a:solidFill>
            <a:srgbClr val="0B3BF4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7"/>
          <p:cNvSpPr/>
          <p:nvPr/>
        </p:nvSpPr>
        <p:spPr>
          <a:xfrm>
            <a:off x="1238250" y="4365277"/>
            <a:ext cx="5308550" cy="361950"/>
          </a:xfrm>
          <a:prstGeom prst="roundRect">
            <a:avLst>
              <a:gd fmla="val 42105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8" name="Google Shape;23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70986" y="4917727"/>
            <a:ext cx="138112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1677292"/>
            <a:ext cx="1047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7"/>
          <p:cNvSpPr txBox="1"/>
          <p:nvPr/>
        </p:nvSpPr>
        <p:spPr>
          <a:xfrm>
            <a:off x="9734550" y="843855"/>
            <a:ext cx="1809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🚆 3h Layover • ₹500 Max</a:t>
            </a:r>
            <a:endParaRPr/>
          </a:p>
        </p:txBody>
      </p:sp>
      <p:sp>
        <p:nvSpPr>
          <p:cNvPr id="241" name="Google Shape;241;p17"/>
          <p:cNvSpPr txBox="1"/>
          <p:nvPr/>
        </p:nvSpPr>
        <p:spPr>
          <a:xfrm>
            <a:off x="685800" y="495300"/>
            <a:ext cx="9906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NEO-BRUTALIST ADVENTURE TRAIL</a:t>
            </a:r>
            <a:endParaRPr/>
          </a:p>
        </p:txBody>
      </p:sp>
      <p:sp>
        <p:nvSpPr>
          <p:cNvPr id="242" name="Google Shape;242;p17"/>
          <p:cNvSpPr txBox="1"/>
          <p:nvPr/>
        </p:nvSpPr>
        <p:spPr>
          <a:xfrm>
            <a:off x="609600" y="733425"/>
            <a:ext cx="8226028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Adventure Trail with Safe Return &amp; Dot Anchor</a:t>
            </a:r>
            <a:endParaRPr/>
          </a:p>
        </p:txBody>
      </p:sp>
      <p:sp>
        <p:nvSpPr>
          <p:cNvPr id="243" name="Google Shape;243;p17"/>
          <p:cNvSpPr txBox="1"/>
          <p:nvPr/>
        </p:nvSpPr>
        <p:spPr>
          <a:xfrm>
            <a:off x="260356" y="5810250"/>
            <a:ext cx="688333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⏰ 17:10 PM • SAFE RETURN TO SHORANUR JN HUB</a:t>
            </a:r>
            <a:endParaRPr/>
          </a:p>
        </p:txBody>
      </p:sp>
      <p:sp>
        <p:nvSpPr>
          <p:cNvPr id="244" name="Google Shape;244;p17"/>
          <p:cNvSpPr txBox="1"/>
          <p:nvPr/>
        </p:nvSpPr>
        <p:spPr>
          <a:xfrm>
            <a:off x="7346900" y="2631727"/>
            <a:ext cx="17621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SELECTED STOP INSPECTION</a:t>
            </a:r>
            <a:endParaRPr/>
          </a:p>
        </p:txBody>
      </p:sp>
      <p:sp>
        <p:nvSpPr>
          <p:cNvPr id="245" name="Google Shape;245;p17"/>
          <p:cNvSpPr txBox="1"/>
          <p:nvPr/>
        </p:nvSpPr>
        <p:spPr>
          <a:xfrm>
            <a:off x="7270700" y="2974627"/>
            <a:ext cx="492129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Nila River Secret Banyan</a:t>
            </a:r>
            <a:endParaRPr/>
          </a:p>
        </p:txBody>
      </p:sp>
      <p:sp>
        <p:nvSpPr>
          <p:cNvPr id="246" name="Google Shape;246;p17"/>
          <p:cNvSpPr txBox="1"/>
          <p:nvPr/>
        </p:nvSpPr>
        <p:spPr>
          <a:xfrm>
            <a:off x="7385000" y="4184302"/>
            <a:ext cx="393069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💬 "Best quiet riverside spot with hot pazhampori, deep shade under banyan roots, zero crowd."</a:t>
            </a:r>
            <a:endParaRPr/>
          </a:p>
        </p:txBody>
      </p:sp>
      <p:sp>
        <p:nvSpPr>
          <p:cNvPr id="247" name="Google Shape;247;p17"/>
          <p:cNvSpPr txBox="1"/>
          <p:nvPr/>
        </p:nvSpPr>
        <p:spPr>
          <a:xfrm>
            <a:off x="857250" y="1648717"/>
            <a:ext cx="275034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START: 14:00 • Shoranur Jn Pl. 1</a:t>
            </a:r>
            <a:endParaRPr/>
          </a:p>
        </p:txBody>
      </p:sp>
      <p:sp>
        <p:nvSpPr>
          <p:cNvPr id="248" name="Google Shape;248;p17"/>
          <p:cNvSpPr txBox="1"/>
          <p:nvPr/>
        </p:nvSpPr>
        <p:spPr>
          <a:xfrm>
            <a:off x="5203775" y="1653480"/>
            <a:ext cx="13620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 STOPS CONNECTED</a:t>
            </a:r>
            <a:endParaRPr/>
          </a:p>
        </p:txBody>
      </p:sp>
      <p:sp>
        <p:nvSpPr>
          <p:cNvPr id="249" name="Google Shape;249;p17"/>
          <p:cNvSpPr txBox="1"/>
          <p:nvPr/>
        </p:nvSpPr>
        <p:spPr>
          <a:xfrm>
            <a:off x="1181100" y="3431827"/>
            <a:ext cx="67547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🛺 6m Auto Transit • ₹25</a:t>
            </a:r>
            <a:endParaRPr/>
          </a:p>
        </p:txBody>
      </p:sp>
      <p:sp>
        <p:nvSpPr>
          <p:cNvPr id="250" name="Google Shape;250;p17"/>
          <p:cNvSpPr txBox="1"/>
          <p:nvPr/>
        </p:nvSpPr>
        <p:spPr>
          <a:xfrm>
            <a:off x="1181100" y="4127152"/>
            <a:ext cx="67547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🚶 5m Walk • Free</a:t>
            </a:r>
            <a:endParaRPr/>
          </a:p>
        </p:txBody>
      </p:sp>
      <p:sp>
        <p:nvSpPr>
          <p:cNvPr id="251" name="Google Shape;251;p17"/>
          <p:cNvSpPr txBox="1"/>
          <p:nvPr/>
        </p:nvSpPr>
        <p:spPr>
          <a:xfrm>
            <a:off x="714375" y="3007965"/>
            <a:ext cx="552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</a:t>
            </a:r>
            <a:endParaRPr/>
          </a:p>
        </p:txBody>
      </p:sp>
      <p:sp>
        <p:nvSpPr>
          <p:cNvPr id="252" name="Google Shape;252;p17"/>
          <p:cNvSpPr txBox="1"/>
          <p:nvPr/>
        </p:nvSpPr>
        <p:spPr>
          <a:xfrm>
            <a:off x="714375" y="3717577"/>
            <a:ext cx="552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</a:t>
            </a:r>
            <a:endParaRPr/>
          </a:p>
        </p:txBody>
      </p:sp>
      <p:sp>
        <p:nvSpPr>
          <p:cNvPr id="253" name="Google Shape;253;p17"/>
          <p:cNvSpPr txBox="1"/>
          <p:nvPr/>
        </p:nvSpPr>
        <p:spPr>
          <a:xfrm>
            <a:off x="714375" y="4412902"/>
            <a:ext cx="552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</a:t>
            </a:r>
            <a:endParaRPr/>
          </a:p>
        </p:txBody>
      </p:sp>
      <p:sp>
        <p:nvSpPr>
          <p:cNvPr id="254" name="Google Shape;254;p17"/>
          <p:cNvSpPr txBox="1"/>
          <p:nvPr/>
        </p:nvSpPr>
        <p:spPr>
          <a:xfrm>
            <a:off x="7165534" y="3508027"/>
            <a:ext cx="2194656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SCHEDULE</a:t>
            </a:r>
            <a:endParaRPr/>
          </a:p>
        </p:txBody>
      </p:sp>
      <p:sp>
        <p:nvSpPr>
          <p:cNvPr id="255" name="Google Shape;255;p17"/>
          <p:cNvSpPr txBox="1"/>
          <p:nvPr/>
        </p:nvSpPr>
        <p:spPr>
          <a:xfrm>
            <a:off x="7165534" y="3631852"/>
            <a:ext cx="219465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14:15 – 15:00</a:t>
            </a:r>
            <a:endParaRPr/>
          </a:p>
        </p:txBody>
      </p:sp>
      <p:sp>
        <p:nvSpPr>
          <p:cNvPr id="256" name="Google Shape;256;p17"/>
          <p:cNvSpPr txBox="1"/>
          <p:nvPr/>
        </p:nvSpPr>
        <p:spPr>
          <a:xfrm>
            <a:off x="9245091" y="3508027"/>
            <a:ext cx="2194842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EST. SPEND</a:t>
            </a:r>
            <a:endParaRPr/>
          </a:p>
        </p:txBody>
      </p:sp>
      <p:sp>
        <p:nvSpPr>
          <p:cNvPr id="257" name="Google Shape;257;p17"/>
          <p:cNvSpPr txBox="1"/>
          <p:nvPr/>
        </p:nvSpPr>
        <p:spPr>
          <a:xfrm>
            <a:off x="9245091" y="3631852"/>
            <a:ext cx="219484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₹40 spend</a:t>
            </a:r>
            <a:endParaRPr/>
          </a:p>
        </p:txBody>
      </p:sp>
      <p:sp>
        <p:nvSpPr>
          <p:cNvPr id="258" name="Google Shape;258;p17"/>
          <p:cNvSpPr txBox="1"/>
          <p:nvPr/>
        </p:nvSpPr>
        <p:spPr>
          <a:xfrm>
            <a:off x="1390650" y="3041302"/>
            <a:ext cx="267890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Nila River Secret Banyan </a:t>
            </a:r>
            <a:r>
              <a:rPr b="1" i="0" lang="en-US" sz="825" u="none" cap="none" strike="noStrike">
                <a:solidFill>
                  <a:srgbClr val="0B3BF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(ACTIVE)</a:t>
            </a:r>
            <a:endParaRPr/>
          </a:p>
        </p:txBody>
      </p:sp>
      <p:sp>
        <p:nvSpPr>
          <p:cNvPr id="259" name="Google Shape;259;p17"/>
          <p:cNvSpPr txBox="1"/>
          <p:nvPr/>
        </p:nvSpPr>
        <p:spPr>
          <a:xfrm>
            <a:off x="5451425" y="3065115"/>
            <a:ext cx="12287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₹40 • 45m stay</a:t>
            </a:r>
            <a:endParaRPr/>
          </a:p>
        </p:txBody>
      </p:sp>
      <p:sp>
        <p:nvSpPr>
          <p:cNvPr id="260" name="Google Shape;260;p17"/>
          <p:cNvSpPr txBox="1"/>
          <p:nvPr/>
        </p:nvSpPr>
        <p:spPr>
          <a:xfrm>
            <a:off x="1390650" y="3765202"/>
            <a:ext cx="16668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Amma's Crispy Vada</a:t>
            </a:r>
            <a:endParaRPr/>
          </a:p>
        </p:txBody>
      </p:sp>
      <p:sp>
        <p:nvSpPr>
          <p:cNvPr id="261" name="Google Shape;261;p17"/>
          <p:cNvSpPr txBox="1"/>
          <p:nvPr/>
        </p:nvSpPr>
        <p:spPr>
          <a:xfrm>
            <a:off x="5470475" y="3774727"/>
            <a:ext cx="12096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₹25 • 20m stay</a:t>
            </a:r>
            <a:endParaRPr/>
          </a:p>
        </p:txBody>
      </p:sp>
      <p:sp>
        <p:nvSpPr>
          <p:cNvPr id="262" name="Google Shape;262;p17"/>
          <p:cNvSpPr txBox="1"/>
          <p:nvPr/>
        </p:nvSpPr>
        <p:spPr>
          <a:xfrm>
            <a:off x="1390650" y="4460527"/>
            <a:ext cx="1571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LevelUp Cyber Hub</a:t>
            </a:r>
            <a:endParaRPr/>
          </a:p>
        </p:txBody>
      </p:sp>
      <p:sp>
        <p:nvSpPr>
          <p:cNvPr id="263" name="Google Shape;263;p17"/>
          <p:cNvSpPr txBox="1"/>
          <p:nvPr/>
        </p:nvSpPr>
        <p:spPr>
          <a:xfrm>
            <a:off x="5460950" y="4470052"/>
            <a:ext cx="12192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₹80 • 60m stay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8" name="Google Shape;26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8"/>
          <p:cNvSpPr/>
          <p:nvPr/>
        </p:nvSpPr>
        <p:spPr>
          <a:xfrm>
            <a:off x="9020175" y="786705"/>
            <a:ext cx="2562225" cy="323850"/>
          </a:xfrm>
          <a:prstGeom prst="roundRect">
            <a:avLst>
              <a:gd fmla="val 50000" name="adj"/>
            </a:avLst>
          </a:prstGeom>
          <a:solidFill>
            <a:srgbClr val="E0E7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8"/>
          <p:cNvSpPr/>
          <p:nvPr/>
        </p:nvSpPr>
        <p:spPr>
          <a:xfrm>
            <a:off x="609600" y="1377255"/>
            <a:ext cx="5815458" cy="5023544"/>
          </a:xfrm>
          <a:prstGeom prst="roundRect">
            <a:avLst>
              <a:gd fmla="val 3033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8"/>
          <p:cNvSpPr/>
          <p:nvPr/>
        </p:nvSpPr>
        <p:spPr>
          <a:xfrm>
            <a:off x="6653658" y="1377255"/>
            <a:ext cx="4928741" cy="5023544"/>
          </a:xfrm>
          <a:prstGeom prst="roundRect">
            <a:avLst>
              <a:gd fmla="val 3092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8"/>
          <p:cNvSpPr/>
          <p:nvPr/>
        </p:nvSpPr>
        <p:spPr>
          <a:xfrm>
            <a:off x="609600" y="466725"/>
            <a:ext cx="552450" cy="219075"/>
          </a:xfrm>
          <a:prstGeom prst="roundRect">
            <a:avLst>
              <a:gd fmla="val 26086" name="adj"/>
            </a:avLst>
          </a:prstGeom>
          <a:solidFill>
            <a:srgbClr val="0B3BF4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8"/>
          <p:cNvSpPr/>
          <p:nvPr/>
        </p:nvSpPr>
        <p:spPr>
          <a:xfrm>
            <a:off x="857250" y="1920180"/>
            <a:ext cx="5320158" cy="1028700"/>
          </a:xfrm>
          <a:prstGeom prst="roundRect">
            <a:avLst>
              <a:gd fmla="val 11111" name="adj"/>
            </a:avLst>
          </a:prstGeom>
          <a:solidFill>
            <a:srgbClr val="F8FAF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8"/>
          <p:cNvSpPr/>
          <p:nvPr/>
        </p:nvSpPr>
        <p:spPr>
          <a:xfrm>
            <a:off x="857250" y="3101280"/>
            <a:ext cx="5320158" cy="971550"/>
          </a:xfrm>
          <a:prstGeom prst="roundRect">
            <a:avLst>
              <a:gd fmla="val 15686" name="adj"/>
            </a:avLst>
          </a:prstGeom>
          <a:solidFill>
            <a:srgbClr val="ECFDF5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8"/>
          <p:cNvSpPr/>
          <p:nvPr/>
        </p:nvSpPr>
        <p:spPr>
          <a:xfrm>
            <a:off x="6901308" y="2717452"/>
            <a:ext cx="4433441" cy="400050"/>
          </a:xfrm>
          <a:prstGeom prst="roundRect">
            <a:avLst>
              <a:gd fmla="val 38095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8"/>
          <p:cNvSpPr/>
          <p:nvPr/>
        </p:nvSpPr>
        <p:spPr>
          <a:xfrm>
            <a:off x="6901308" y="4784377"/>
            <a:ext cx="4433441" cy="514350"/>
          </a:xfrm>
          <a:prstGeom prst="roundRect">
            <a:avLst>
              <a:gd fmla="val 29629" name="adj"/>
            </a:avLst>
          </a:prstGeom>
          <a:solidFill>
            <a:srgbClr val="FFFBE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8"/>
          <p:cNvSpPr/>
          <p:nvPr/>
        </p:nvSpPr>
        <p:spPr>
          <a:xfrm>
            <a:off x="6901308" y="3469927"/>
            <a:ext cx="866775" cy="295275"/>
          </a:xfrm>
          <a:prstGeom prst="roundRect">
            <a:avLst>
              <a:gd fmla="val 50000" name="adj"/>
            </a:avLst>
          </a:prstGeom>
          <a:solidFill>
            <a:srgbClr val="0B3BF4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8"/>
          <p:cNvSpPr/>
          <p:nvPr/>
        </p:nvSpPr>
        <p:spPr>
          <a:xfrm>
            <a:off x="7825233" y="3469927"/>
            <a:ext cx="762000" cy="295275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8644383" y="3469927"/>
            <a:ext cx="904875" cy="295275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6901308" y="4079527"/>
            <a:ext cx="2169169" cy="390525"/>
          </a:xfrm>
          <a:prstGeom prst="roundRect">
            <a:avLst>
              <a:gd fmla="val 39024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9165728" y="4079527"/>
            <a:ext cx="2169169" cy="390525"/>
          </a:xfrm>
          <a:prstGeom prst="roundRect">
            <a:avLst>
              <a:gd fmla="val 39024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1866900" y="2501205"/>
            <a:ext cx="1400175" cy="219075"/>
          </a:xfrm>
          <a:prstGeom prst="roundRect">
            <a:avLst>
              <a:gd fmla="val 26086" name="adj"/>
            </a:avLst>
          </a:prstGeom>
          <a:solidFill>
            <a:srgbClr val="10B98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8"/>
          <p:cNvSpPr/>
          <p:nvPr/>
        </p:nvSpPr>
        <p:spPr>
          <a:xfrm>
            <a:off x="1009650" y="3472755"/>
            <a:ext cx="762000" cy="200025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8"/>
          <p:cNvSpPr/>
          <p:nvPr/>
        </p:nvSpPr>
        <p:spPr>
          <a:xfrm>
            <a:off x="1828800" y="3472755"/>
            <a:ext cx="990600" cy="200025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8"/>
          <p:cNvSpPr/>
          <p:nvPr/>
        </p:nvSpPr>
        <p:spPr>
          <a:xfrm>
            <a:off x="2876550" y="3472755"/>
            <a:ext cx="828675" cy="200025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6" name="Google Shape;28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72575" y="881955"/>
            <a:ext cx="1524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8700" y="2091630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57300" y="232023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8"/>
          <p:cNvSpPr txBox="1"/>
          <p:nvPr/>
        </p:nvSpPr>
        <p:spPr>
          <a:xfrm>
            <a:off x="9382125" y="843855"/>
            <a:ext cx="2162175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On-Device Multimodal Tagging</a:t>
            </a:r>
            <a:endParaRPr/>
          </a:p>
        </p:txBody>
      </p:sp>
      <p:sp>
        <p:nvSpPr>
          <p:cNvPr id="290" name="Google Shape;290;p18"/>
          <p:cNvSpPr txBox="1"/>
          <p:nvPr/>
        </p:nvSpPr>
        <p:spPr>
          <a:xfrm>
            <a:off x="685800" y="495300"/>
            <a:ext cx="4953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TAB 03</a:t>
            </a:r>
            <a:endParaRPr/>
          </a:p>
        </p:txBody>
      </p:sp>
      <p:sp>
        <p:nvSpPr>
          <p:cNvPr id="291" name="Google Shape;291;p18"/>
          <p:cNvSpPr txBox="1"/>
          <p:nvPr/>
        </p:nvSpPr>
        <p:spPr>
          <a:xfrm>
            <a:off x="609600" y="733425"/>
            <a:ext cx="8982372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Add Spot: Community Contributions &amp; Dup Guard</a:t>
            </a:r>
            <a:endParaRPr/>
          </a:p>
        </p:txBody>
      </p:sp>
      <p:sp>
        <p:nvSpPr>
          <p:cNvPr id="292" name="Google Shape;292;p18"/>
          <p:cNvSpPr txBox="1"/>
          <p:nvPr/>
        </p:nvSpPr>
        <p:spPr>
          <a:xfrm>
            <a:off x="6901308" y="4584352"/>
            <a:ext cx="4528691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COMMUNITY REVIEW / TIP</a:t>
            </a:r>
            <a:endParaRPr/>
          </a:p>
        </p:txBody>
      </p:sp>
      <p:sp>
        <p:nvSpPr>
          <p:cNvPr id="293" name="Google Shape;293;p18"/>
          <p:cNvSpPr txBox="1"/>
          <p:nvPr/>
        </p:nvSpPr>
        <p:spPr>
          <a:xfrm>
            <a:off x="857250" y="1624905"/>
            <a:ext cx="665019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PHOTO ATTACHMENT &amp; AI ANALYSIS</a:t>
            </a:r>
            <a:endParaRPr/>
          </a:p>
        </p:txBody>
      </p:sp>
      <p:sp>
        <p:nvSpPr>
          <p:cNvPr id="294" name="Google Shape;294;p18"/>
          <p:cNvSpPr txBox="1"/>
          <p:nvPr/>
        </p:nvSpPr>
        <p:spPr>
          <a:xfrm>
            <a:off x="6901308" y="2526952"/>
            <a:ext cx="971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SPOT NAME</a:t>
            </a:r>
            <a:endParaRPr/>
          </a:p>
        </p:txBody>
      </p:sp>
      <p:sp>
        <p:nvSpPr>
          <p:cNvPr id="295" name="Google Shape;295;p18"/>
          <p:cNvSpPr txBox="1"/>
          <p:nvPr/>
        </p:nvSpPr>
        <p:spPr>
          <a:xfrm>
            <a:off x="6996558" y="2812702"/>
            <a:ext cx="4338191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Kottakkunnu Secret Sunset Rock</a:t>
            </a:r>
            <a:endParaRPr/>
          </a:p>
        </p:txBody>
      </p:sp>
      <p:sp>
        <p:nvSpPr>
          <p:cNvPr id="296" name="Google Shape;296;p18"/>
          <p:cNvSpPr txBox="1"/>
          <p:nvPr/>
        </p:nvSpPr>
        <p:spPr>
          <a:xfrm>
            <a:off x="6901308" y="3279427"/>
            <a:ext cx="9334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CATEGORY</a:t>
            </a:r>
            <a:endParaRPr/>
          </a:p>
        </p:txBody>
      </p:sp>
      <p:sp>
        <p:nvSpPr>
          <p:cNvPr id="297" name="Google Shape;297;p18"/>
          <p:cNvSpPr txBox="1"/>
          <p:nvPr/>
        </p:nvSpPr>
        <p:spPr>
          <a:xfrm>
            <a:off x="6901308" y="3879502"/>
            <a:ext cx="22644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AVG COST (₹)</a:t>
            </a:r>
            <a:endParaRPr/>
          </a:p>
        </p:txBody>
      </p:sp>
      <p:sp>
        <p:nvSpPr>
          <p:cNvPr id="298" name="Google Shape;298;p18"/>
          <p:cNvSpPr txBox="1"/>
          <p:nvPr/>
        </p:nvSpPr>
        <p:spPr>
          <a:xfrm>
            <a:off x="9165728" y="3879502"/>
            <a:ext cx="2264419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TIME NEEDED</a:t>
            </a:r>
            <a:endParaRPr/>
          </a:p>
        </p:txBody>
      </p:sp>
      <p:sp>
        <p:nvSpPr>
          <p:cNvPr id="299" name="Google Shape;299;p18"/>
          <p:cNvSpPr txBox="1"/>
          <p:nvPr/>
        </p:nvSpPr>
        <p:spPr>
          <a:xfrm>
            <a:off x="6996558" y="4879627"/>
            <a:ext cx="433819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Best sunset view in town with zero crowd. Take the narrow mud path behind the banyan tree.</a:t>
            </a:r>
            <a:endParaRPr/>
          </a:p>
        </p:txBody>
      </p:sp>
      <p:sp>
        <p:nvSpPr>
          <p:cNvPr id="300" name="Google Shape;300;p18"/>
          <p:cNvSpPr txBox="1"/>
          <p:nvPr/>
        </p:nvSpPr>
        <p:spPr>
          <a:xfrm>
            <a:off x="1009650" y="3253680"/>
            <a:ext cx="6269198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4785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SUGGESTED TAGS &amp; CAPTION</a:t>
            </a:r>
            <a:endParaRPr/>
          </a:p>
        </p:txBody>
      </p:sp>
      <p:sp>
        <p:nvSpPr>
          <p:cNvPr id="301" name="Google Shape;301;p18"/>
          <p:cNvSpPr txBox="1"/>
          <p:nvPr/>
        </p:nvSpPr>
        <p:spPr>
          <a:xfrm>
            <a:off x="1009650" y="3768030"/>
            <a:ext cx="626919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975" u="none" cap="none" strike="noStrike">
                <a:solidFill>
                  <a:srgbClr val="065F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"Outdoor seating near water, low crowd, casual local food stall."</a:t>
            </a:r>
            <a:endParaRPr/>
          </a:p>
        </p:txBody>
      </p:sp>
      <p:sp>
        <p:nvSpPr>
          <p:cNvPr id="302" name="Google Shape;302;p18"/>
          <p:cNvSpPr txBox="1"/>
          <p:nvPr/>
        </p:nvSpPr>
        <p:spPr>
          <a:xfrm>
            <a:off x="7034658" y="3527077"/>
            <a:ext cx="6953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💎 Hidden</a:t>
            </a:r>
            <a:endParaRPr/>
          </a:p>
        </p:txBody>
      </p:sp>
      <p:sp>
        <p:nvSpPr>
          <p:cNvPr id="303" name="Google Shape;303;p18"/>
          <p:cNvSpPr txBox="1"/>
          <p:nvPr/>
        </p:nvSpPr>
        <p:spPr>
          <a:xfrm>
            <a:off x="7958583" y="3527077"/>
            <a:ext cx="5905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🍜 Food</a:t>
            </a:r>
            <a:endParaRPr/>
          </a:p>
        </p:txBody>
      </p:sp>
      <p:sp>
        <p:nvSpPr>
          <p:cNvPr id="304" name="Google Shape;304;p18"/>
          <p:cNvSpPr txBox="1"/>
          <p:nvPr/>
        </p:nvSpPr>
        <p:spPr>
          <a:xfrm>
            <a:off x="8777733" y="3527077"/>
            <a:ext cx="7334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🎮 Gaming</a:t>
            </a:r>
            <a:endParaRPr/>
          </a:p>
        </p:txBody>
      </p:sp>
      <p:sp>
        <p:nvSpPr>
          <p:cNvPr id="305" name="Google Shape;305;p18"/>
          <p:cNvSpPr txBox="1"/>
          <p:nvPr/>
        </p:nvSpPr>
        <p:spPr>
          <a:xfrm>
            <a:off x="6977508" y="4155727"/>
            <a:ext cx="211201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₹ 50</a:t>
            </a:r>
            <a:endParaRPr/>
          </a:p>
        </p:txBody>
      </p:sp>
      <p:sp>
        <p:nvSpPr>
          <p:cNvPr id="306" name="Google Shape;306;p18"/>
          <p:cNvSpPr txBox="1"/>
          <p:nvPr/>
        </p:nvSpPr>
        <p:spPr>
          <a:xfrm>
            <a:off x="9241928" y="4155727"/>
            <a:ext cx="211201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45 mins</a:t>
            </a:r>
            <a:endParaRPr/>
          </a:p>
        </p:txBody>
      </p:sp>
      <p:sp>
        <p:nvSpPr>
          <p:cNvPr id="307" name="Google Shape;307;p18"/>
          <p:cNvSpPr txBox="1"/>
          <p:nvPr/>
        </p:nvSpPr>
        <p:spPr>
          <a:xfrm>
            <a:off x="1866900" y="2148780"/>
            <a:ext cx="248840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kottakkunnu_sunset_rock.jpg</a:t>
            </a:r>
            <a:endParaRPr/>
          </a:p>
        </p:txBody>
      </p:sp>
      <p:sp>
        <p:nvSpPr>
          <p:cNvPr id="308" name="Google Shape;308;p18"/>
          <p:cNvSpPr txBox="1"/>
          <p:nvPr/>
        </p:nvSpPr>
        <p:spPr>
          <a:xfrm>
            <a:off x="1866900" y="2320230"/>
            <a:ext cx="2488406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1.2 MB • 512px local vision input</a:t>
            </a:r>
            <a:endParaRPr/>
          </a:p>
        </p:txBody>
      </p:sp>
      <p:sp>
        <p:nvSpPr>
          <p:cNvPr id="309" name="Google Shape;309;p18"/>
          <p:cNvSpPr txBox="1"/>
          <p:nvPr/>
        </p:nvSpPr>
        <p:spPr>
          <a:xfrm>
            <a:off x="1943100" y="2529780"/>
            <a:ext cx="13430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ANALYSIS COMPLETE</a:t>
            </a:r>
            <a:endParaRPr/>
          </a:p>
        </p:txBody>
      </p:sp>
      <p:sp>
        <p:nvSpPr>
          <p:cNvPr id="310" name="Google Shape;310;p18"/>
          <p:cNvSpPr txBox="1"/>
          <p:nvPr/>
        </p:nvSpPr>
        <p:spPr>
          <a:xfrm>
            <a:off x="1085850" y="3491805"/>
            <a:ext cx="7048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#Riverside</a:t>
            </a:r>
            <a:endParaRPr/>
          </a:p>
        </p:txBody>
      </p:sp>
      <p:sp>
        <p:nvSpPr>
          <p:cNvPr id="311" name="Google Shape;311;p18"/>
          <p:cNvSpPr txBox="1"/>
          <p:nvPr/>
        </p:nvSpPr>
        <p:spPr>
          <a:xfrm>
            <a:off x="1905000" y="3491805"/>
            <a:ext cx="9334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#BudgetSnack</a:t>
            </a:r>
            <a:endParaRPr/>
          </a:p>
        </p:txBody>
      </p:sp>
      <p:sp>
        <p:nvSpPr>
          <p:cNvPr id="312" name="Google Shape;312;p18"/>
          <p:cNvSpPr txBox="1"/>
          <p:nvPr/>
        </p:nvSpPr>
        <p:spPr>
          <a:xfrm>
            <a:off x="2952750" y="3491805"/>
            <a:ext cx="7715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#QuietVibe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7" name="Google Shape;31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9"/>
          <p:cNvSpPr/>
          <p:nvPr/>
        </p:nvSpPr>
        <p:spPr>
          <a:xfrm>
            <a:off x="8820150" y="786705"/>
            <a:ext cx="2762250" cy="3238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9"/>
          <p:cNvSpPr/>
          <p:nvPr/>
        </p:nvSpPr>
        <p:spPr>
          <a:xfrm>
            <a:off x="609600" y="1377255"/>
            <a:ext cx="5157787" cy="5023544"/>
          </a:xfrm>
          <a:prstGeom prst="roundRect">
            <a:avLst>
              <a:gd fmla="val 3033" name="adj"/>
            </a:avLst>
          </a:prstGeom>
          <a:solidFill>
            <a:srgbClr val="EFF6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9"/>
          <p:cNvSpPr/>
          <p:nvPr/>
        </p:nvSpPr>
        <p:spPr>
          <a:xfrm>
            <a:off x="6424612" y="1377255"/>
            <a:ext cx="5157787" cy="5023544"/>
          </a:xfrm>
          <a:prstGeom prst="roundRect">
            <a:avLst>
              <a:gd fmla="val 3033" name="adj"/>
            </a:avLst>
          </a:prstGeom>
          <a:solidFill>
            <a:srgbClr val="FEF3C7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9"/>
          <p:cNvSpPr/>
          <p:nvPr/>
        </p:nvSpPr>
        <p:spPr>
          <a:xfrm>
            <a:off x="609600" y="466725"/>
            <a:ext cx="1724025" cy="219075"/>
          </a:xfrm>
          <a:prstGeom prst="roundRect">
            <a:avLst>
              <a:gd fmla="val 26086" name="adj"/>
            </a:avLst>
          </a:prstGeom>
          <a:solidFill>
            <a:srgbClr val="0B3BF4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9"/>
          <p:cNvSpPr/>
          <p:nvPr/>
        </p:nvSpPr>
        <p:spPr>
          <a:xfrm>
            <a:off x="857250" y="5781675"/>
            <a:ext cx="4662487" cy="371475"/>
          </a:xfrm>
          <a:prstGeom prst="roundRect">
            <a:avLst>
              <a:gd fmla="val 41025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9"/>
          <p:cNvSpPr/>
          <p:nvPr/>
        </p:nvSpPr>
        <p:spPr>
          <a:xfrm>
            <a:off x="6672262" y="5781675"/>
            <a:ext cx="4662487" cy="371475"/>
          </a:xfrm>
          <a:prstGeom prst="roundRect">
            <a:avLst>
              <a:gd fmla="val 41025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9"/>
          <p:cNvSpPr/>
          <p:nvPr/>
        </p:nvSpPr>
        <p:spPr>
          <a:xfrm>
            <a:off x="857250" y="1634430"/>
            <a:ext cx="619125" cy="219075"/>
          </a:xfrm>
          <a:prstGeom prst="roundRect">
            <a:avLst>
              <a:gd fmla="val 26086" name="adj"/>
            </a:avLst>
          </a:prstGeom>
          <a:solidFill>
            <a:srgbClr val="0B3BF4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9"/>
          <p:cNvSpPr/>
          <p:nvPr/>
        </p:nvSpPr>
        <p:spPr>
          <a:xfrm>
            <a:off x="6672262" y="1634430"/>
            <a:ext cx="638175" cy="219075"/>
          </a:xfrm>
          <a:prstGeom prst="roundRect">
            <a:avLst>
              <a:gd fmla="val 26086" name="adj"/>
            </a:avLst>
          </a:prstGeom>
          <a:solidFill>
            <a:srgbClr val="F59E0B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6" name="Google Shape;32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72550" y="881955"/>
            <a:ext cx="1524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7" name="Google Shape;32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2829817"/>
            <a:ext cx="1047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8" name="Google Shape;32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3058417"/>
            <a:ext cx="1047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9" name="Google Shape;32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3287017"/>
            <a:ext cx="1047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0" name="Google Shape;33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3515617"/>
            <a:ext cx="1047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1" name="Google Shape;33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72262" y="2829817"/>
            <a:ext cx="1047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2" name="Google Shape;33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72262" y="3058417"/>
            <a:ext cx="1047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3" name="Google Shape;33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72262" y="3287017"/>
            <a:ext cx="1047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4" name="Google Shape;33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72262" y="3515617"/>
            <a:ext cx="1047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19"/>
          <p:cNvSpPr txBox="1"/>
          <p:nvPr/>
        </p:nvSpPr>
        <p:spPr>
          <a:xfrm>
            <a:off x="9182100" y="843855"/>
            <a:ext cx="2362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Safe &amp; Zero-Hallucination Pipeline</a:t>
            </a:r>
            <a:endParaRPr/>
          </a:p>
        </p:txBody>
      </p:sp>
      <p:sp>
        <p:nvSpPr>
          <p:cNvPr id="336" name="Google Shape;336;p19"/>
          <p:cNvSpPr txBox="1"/>
          <p:nvPr/>
        </p:nvSpPr>
        <p:spPr>
          <a:xfrm>
            <a:off x="5957887" y="3693765"/>
            <a:ext cx="561975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➔</a:t>
            </a:r>
            <a:endParaRPr/>
          </a:p>
        </p:txBody>
      </p:sp>
      <p:sp>
        <p:nvSpPr>
          <p:cNvPr id="337" name="Google Shape;337;p19"/>
          <p:cNvSpPr txBox="1"/>
          <p:nvPr/>
        </p:nvSpPr>
        <p:spPr>
          <a:xfrm>
            <a:off x="685800" y="495300"/>
            <a:ext cx="16668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TECHNICAL ARCHITECTURE</a:t>
            </a:r>
            <a:endParaRPr/>
          </a:p>
        </p:txBody>
      </p:sp>
      <p:sp>
        <p:nvSpPr>
          <p:cNvPr id="338" name="Google Shape;338;p19"/>
          <p:cNvSpPr txBox="1"/>
          <p:nvPr/>
        </p:nvSpPr>
        <p:spPr>
          <a:xfrm>
            <a:off x="609600" y="733425"/>
            <a:ext cx="7882235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Two-Stage Deterministic &amp; AI Engine</a:t>
            </a:r>
            <a:endParaRPr/>
          </a:p>
        </p:txBody>
      </p:sp>
      <p:sp>
        <p:nvSpPr>
          <p:cNvPr id="339" name="Google Shape;339;p19"/>
          <p:cNvSpPr txBox="1"/>
          <p:nvPr/>
        </p:nvSpPr>
        <p:spPr>
          <a:xfrm>
            <a:off x="369689" y="5876925"/>
            <a:ext cx="5637609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Output: Feasible Candidate Pool</a:t>
            </a:r>
            <a:endParaRPr/>
          </a:p>
        </p:txBody>
      </p:sp>
      <p:sp>
        <p:nvSpPr>
          <p:cNvPr id="340" name="Google Shape;340;p19"/>
          <p:cNvSpPr txBox="1"/>
          <p:nvPr/>
        </p:nvSpPr>
        <p:spPr>
          <a:xfrm>
            <a:off x="6184701" y="5876925"/>
            <a:ext cx="5637609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Output: 3 Ranked Itinerary Options</a:t>
            </a:r>
            <a:endParaRPr/>
          </a:p>
        </p:txBody>
      </p:sp>
      <p:sp>
        <p:nvSpPr>
          <p:cNvPr id="341" name="Google Shape;341;p19"/>
          <p:cNvSpPr txBox="1"/>
          <p:nvPr/>
        </p:nvSpPr>
        <p:spPr>
          <a:xfrm>
            <a:off x="933450" y="1663005"/>
            <a:ext cx="5619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STAGE 1</a:t>
            </a:r>
            <a:endParaRPr/>
          </a:p>
        </p:txBody>
      </p:sp>
      <p:sp>
        <p:nvSpPr>
          <p:cNvPr id="342" name="Google Shape;342;p19"/>
          <p:cNvSpPr txBox="1"/>
          <p:nvPr/>
        </p:nvSpPr>
        <p:spPr>
          <a:xfrm>
            <a:off x="857250" y="1967805"/>
            <a:ext cx="611951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Deterministic Hard Filter (Pool Expanded to 20)</a:t>
            </a:r>
            <a:endParaRPr/>
          </a:p>
        </p:txBody>
      </p:sp>
      <p:sp>
        <p:nvSpPr>
          <p:cNvPr id="343" name="Google Shape;343;p19"/>
          <p:cNvSpPr txBox="1"/>
          <p:nvPr/>
        </p:nvSpPr>
        <p:spPr>
          <a:xfrm>
            <a:off x="857250" y="2320230"/>
            <a:ext cx="475773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Executes strictly in native application logic to evaluate non-negotiable physical constraints.</a:t>
            </a:r>
            <a:endParaRPr/>
          </a:p>
        </p:txBody>
      </p:sp>
      <p:sp>
        <p:nvSpPr>
          <p:cNvPr id="344" name="Google Shape;344;p19"/>
          <p:cNvSpPr txBox="1"/>
          <p:nvPr/>
        </p:nvSpPr>
        <p:spPr>
          <a:xfrm>
            <a:off x="6748462" y="1663005"/>
            <a:ext cx="5810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STAGE 2</a:t>
            </a:r>
            <a:endParaRPr/>
          </a:p>
        </p:txBody>
      </p:sp>
      <p:sp>
        <p:nvSpPr>
          <p:cNvPr id="345" name="Google Shape;345;p19"/>
          <p:cNvSpPr txBox="1"/>
          <p:nvPr/>
        </p:nvSpPr>
        <p:spPr>
          <a:xfrm>
            <a:off x="6672262" y="1967805"/>
            <a:ext cx="5519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Qwen 2.5:3B Preference Match</a:t>
            </a:r>
            <a:endParaRPr/>
          </a:p>
        </p:txBody>
      </p:sp>
      <p:sp>
        <p:nvSpPr>
          <p:cNvPr id="346" name="Google Shape;346;p19"/>
          <p:cNvSpPr txBox="1"/>
          <p:nvPr/>
        </p:nvSpPr>
        <p:spPr>
          <a:xfrm>
            <a:off x="6672262" y="2320230"/>
            <a:ext cx="475773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Local LLM interprets natural language intent and ranks candidate sequences into 3 distinct plans.</a:t>
            </a:r>
            <a:endParaRPr/>
          </a:p>
        </p:txBody>
      </p:sp>
      <p:sp>
        <p:nvSpPr>
          <p:cNvPr id="347" name="Google Shape;347;p19"/>
          <p:cNvSpPr txBox="1"/>
          <p:nvPr/>
        </p:nvSpPr>
        <p:spPr>
          <a:xfrm>
            <a:off x="857250" y="2815530"/>
            <a:ext cx="582810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Time window calculation</a:t>
            </a:r>
            <a:endParaRPr/>
          </a:p>
        </p:txBody>
      </p:sp>
      <p:sp>
        <p:nvSpPr>
          <p:cNvPr id="348" name="Google Shape;348;p19"/>
          <p:cNvSpPr txBox="1"/>
          <p:nvPr/>
        </p:nvSpPr>
        <p:spPr>
          <a:xfrm>
            <a:off x="857250" y="3044130"/>
            <a:ext cx="582810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Locked 30m return buffer</a:t>
            </a:r>
            <a:endParaRPr/>
          </a:p>
        </p:txBody>
      </p:sp>
      <p:sp>
        <p:nvSpPr>
          <p:cNvPr id="349" name="Google Shape;349;p19"/>
          <p:cNvSpPr txBox="1"/>
          <p:nvPr/>
        </p:nvSpPr>
        <p:spPr>
          <a:xfrm>
            <a:off x="857250" y="3272730"/>
            <a:ext cx="582810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Hard budget ceiling validation</a:t>
            </a:r>
            <a:endParaRPr/>
          </a:p>
        </p:txBody>
      </p:sp>
      <p:sp>
        <p:nvSpPr>
          <p:cNvPr id="350" name="Google Shape;350;p19"/>
          <p:cNvSpPr txBox="1"/>
          <p:nvPr/>
        </p:nvSpPr>
        <p:spPr>
          <a:xfrm>
            <a:off x="857250" y="3501330"/>
            <a:ext cx="582810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Geo-fence bounding box</a:t>
            </a:r>
            <a:endParaRPr/>
          </a:p>
        </p:txBody>
      </p:sp>
      <p:sp>
        <p:nvSpPr>
          <p:cNvPr id="351" name="Google Shape;351;p19"/>
          <p:cNvSpPr txBox="1"/>
          <p:nvPr/>
        </p:nvSpPr>
        <p:spPr>
          <a:xfrm>
            <a:off x="6672262" y="2815530"/>
            <a:ext cx="551973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Natural language vibe extraction</a:t>
            </a:r>
            <a:endParaRPr/>
          </a:p>
        </p:txBody>
      </p:sp>
      <p:sp>
        <p:nvSpPr>
          <p:cNvPr id="352" name="Google Shape;352;p19"/>
          <p:cNvSpPr txBox="1"/>
          <p:nvPr/>
        </p:nvSpPr>
        <p:spPr>
          <a:xfrm>
            <a:off x="6672262" y="3044130"/>
            <a:ext cx="551973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Optimal route sequencing</a:t>
            </a:r>
            <a:endParaRPr/>
          </a:p>
        </p:txBody>
      </p:sp>
      <p:sp>
        <p:nvSpPr>
          <p:cNvPr id="353" name="Google Shape;353;p19"/>
          <p:cNvSpPr txBox="1"/>
          <p:nvPr/>
        </p:nvSpPr>
        <p:spPr>
          <a:xfrm>
            <a:off x="6672262" y="3272730"/>
            <a:ext cx="551973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Context-aware trade-off evaluation</a:t>
            </a:r>
            <a:endParaRPr/>
          </a:p>
        </p:txBody>
      </p:sp>
      <p:sp>
        <p:nvSpPr>
          <p:cNvPr id="354" name="Google Shape;354;p19"/>
          <p:cNvSpPr txBox="1"/>
          <p:nvPr/>
        </p:nvSpPr>
        <p:spPr>
          <a:xfrm>
            <a:off x="6672262" y="3501330"/>
            <a:ext cx="551973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Structured JSON response generation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9" name="Google Shape;35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20"/>
          <p:cNvSpPr/>
          <p:nvPr/>
        </p:nvSpPr>
        <p:spPr>
          <a:xfrm>
            <a:off x="9505950" y="786705"/>
            <a:ext cx="2076450" cy="3238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0"/>
          <p:cNvSpPr/>
          <p:nvPr/>
        </p:nvSpPr>
        <p:spPr>
          <a:xfrm>
            <a:off x="609600" y="2850802"/>
            <a:ext cx="5391150" cy="942975"/>
          </a:xfrm>
          <a:prstGeom prst="roundRect">
            <a:avLst>
              <a:gd fmla="val 16161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0"/>
          <p:cNvSpPr/>
          <p:nvPr/>
        </p:nvSpPr>
        <p:spPr>
          <a:xfrm>
            <a:off x="6191250" y="2850802"/>
            <a:ext cx="5391150" cy="942975"/>
          </a:xfrm>
          <a:prstGeom prst="roundRect">
            <a:avLst>
              <a:gd fmla="val 16161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0"/>
          <p:cNvSpPr/>
          <p:nvPr/>
        </p:nvSpPr>
        <p:spPr>
          <a:xfrm>
            <a:off x="609600" y="3984277"/>
            <a:ext cx="5391150" cy="942975"/>
          </a:xfrm>
          <a:prstGeom prst="roundRect">
            <a:avLst>
              <a:gd fmla="val 16161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0"/>
          <p:cNvSpPr/>
          <p:nvPr/>
        </p:nvSpPr>
        <p:spPr>
          <a:xfrm>
            <a:off x="6191250" y="3984277"/>
            <a:ext cx="5391150" cy="942975"/>
          </a:xfrm>
          <a:prstGeom prst="roundRect">
            <a:avLst>
              <a:gd fmla="val 16161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0"/>
          <p:cNvSpPr/>
          <p:nvPr/>
        </p:nvSpPr>
        <p:spPr>
          <a:xfrm>
            <a:off x="609600" y="466725"/>
            <a:ext cx="1076325" cy="219075"/>
          </a:xfrm>
          <a:prstGeom prst="roundRect">
            <a:avLst>
              <a:gd fmla="val 26086" name="adj"/>
            </a:avLst>
          </a:prstGeom>
          <a:solidFill>
            <a:srgbClr val="10B98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0"/>
          <p:cNvSpPr/>
          <p:nvPr/>
        </p:nvSpPr>
        <p:spPr>
          <a:xfrm>
            <a:off x="5153025" y="3022252"/>
            <a:ext cx="676275" cy="219075"/>
          </a:xfrm>
          <a:prstGeom prst="roundRect">
            <a:avLst>
              <a:gd fmla="val 26086" name="adj"/>
            </a:avLst>
          </a:prstGeom>
          <a:solidFill>
            <a:srgbClr val="0B3BF4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0"/>
          <p:cNvSpPr/>
          <p:nvPr/>
        </p:nvSpPr>
        <p:spPr>
          <a:xfrm>
            <a:off x="10315575" y="3022252"/>
            <a:ext cx="1095375" cy="219075"/>
          </a:xfrm>
          <a:prstGeom prst="roundRect">
            <a:avLst>
              <a:gd fmla="val 26086" name="adj"/>
            </a:avLst>
          </a:prstGeom>
          <a:solidFill>
            <a:srgbClr val="F59E0B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0"/>
          <p:cNvSpPr/>
          <p:nvPr/>
        </p:nvSpPr>
        <p:spPr>
          <a:xfrm>
            <a:off x="4848225" y="4155727"/>
            <a:ext cx="981075" cy="219075"/>
          </a:xfrm>
          <a:prstGeom prst="roundRect">
            <a:avLst>
              <a:gd fmla="val 26086" name="adj"/>
            </a:avLst>
          </a:prstGeom>
          <a:solidFill>
            <a:srgbClr val="10B98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0"/>
          <p:cNvSpPr/>
          <p:nvPr/>
        </p:nvSpPr>
        <p:spPr>
          <a:xfrm>
            <a:off x="10372725" y="4155727"/>
            <a:ext cx="1038225" cy="219075"/>
          </a:xfrm>
          <a:prstGeom prst="roundRect">
            <a:avLst>
              <a:gd fmla="val 26086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70" name="Google Shape;37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58350" y="881955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1" name="Google Shape;37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050" y="3036552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2" name="Google Shape;37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62700" y="306035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3" name="Google Shape;373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1050" y="419382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4" name="Google Shape;374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62700" y="4193827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20"/>
          <p:cNvSpPr txBox="1"/>
          <p:nvPr/>
        </p:nvSpPr>
        <p:spPr>
          <a:xfrm>
            <a:off x="9829800" y="843855"/>
            <a:ext cx="1714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Hybrid Local + Atlas Persistence</a:t>
            </a:r>
            <a:endParaRPr/>
          </a:p>
        </p:txBody>
      </p:sp>
      <p:sp>
        <p:nvSpPr>
          <p:cNvPr id="376" name="Google Shape;376;p20"/>
          <p:cNvSpPr txBox="1"/>
          <p:nvPr/>
        </p:nvSpPr>
        <p:spPr>
          <a:xfrm>
            <a:off x="685800" y="495300"/>
            <a:ext cx="10191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SCHEMAS</a:t>
            </a:r>
            <a:endParaRPr/>
          </a:p>
        </p:txBody>
      </p:sp>
      <p:sp>
        <p:nvSpPr>
          <p:cNvPr id="377" name="Google Shape;377;p20"/>
          <p:cNvSpPr txBox="1"/>
          <p:nvPr/>
        </p:nvSpPr>
        <p:spPr>
          <a:xfrm>
            <a:off x="609600" y="733425"/>
            <a:ext cx="9213651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Data &amp; Local Persistence Architecture</a:t>
            </a:r>
            <a:endParaRPr/>
          </a:p>
        </p:txBody>
      </p:sp>
      <p:sp>
        <p:nvSpPr>
          <p:cNvPr id="378" name="Google Shape;378;p20"/>
          <p:cNvSpPr txBox="1"/>
          <p:nvPr/>
        </p:nvSpPr>
        <p:spPr>
          <a:xfrm>
            <a:off x="781050" y="3317527"/>
            <a:ext cx="5143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ID, name, coordinates, category, vibe tags, photos, estimated cost, visit duration, opening hours, community reviews.</a:t>
            </a:r>
            <a:endParaRPr/>
          </a:p>
        </p:txBody>
      </p:sp>
      <p:sp>
        <p:nvSpPr>
          <p:cNvPr id="379" name="Google Shape;379;p20"/>
          <p:cNvSpPr txBox="1"/>
          <p:nvPr/>
        </p:nvSpPr>
        <p:spPr>
          <a:xfrm>
            <a:off x="6362700" y="3317527"/>
            <a:ext cx="5143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Location, mode, available duration, departure deadline, return point, safety cushion, budget, prompt, selected itinerary.</a:t>
            </a:r>
            <a:endParaRPr/>
          </a:p>
        </p:txBody>
      </p:sp>
      <p:sp>
        <p:nvSpPr>
          <p:cNvPr id="380" name="Google Shape;380;p20"/>
          <p:cNvSpPr txBox="1"/>
          <p:nvPr/>
        </p:nvSpPr>
        <p:spPr>
          <a:xfrm>
            <a:off x="781050" y="4451002"/>
            <a:ext cx="5143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Uploaded photo asset, submitted details, coordinates, local tips, vision tags, sync &amp; publishing state.</a:t>
            </a:r>
            <a:endParaRPr/>
          </a:p>
        </p:txBody>
      </p:sp>
      <p:sp>
        <p:nvSpPr>
          <p:cNvPr id="381" name="Google Shape;381;p20"/>
          <p:cNvSpPr txBox="1"/>
          <p:nvPr/>
        </p:nvSpPr>
        <p:spPr>
          <a:xfrm>
            <a:off x="6362700" y="4451002"/>
            <a:ext cx="5143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Saved places, location permission toggles, manual location overrides, AI server connection endpoints.</a:t>
            </a:r>
            <a:endParaRPr/>
          </a:p>
        </p:txBody>
      </p:sp>
      <p:sp>
        <p:nvSpPr>
          <p:cNvPr id="382" name="Google Shape;382;p20"/>
          <p:cNvSpPr txBox="1"/>
          <p:nvPr/>
        </p:nvSpPr>
        <p:spPr>
          <a:xfrm>
            <a:off x="933450" y="3020350"/>
            <a:ext cx="1172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Places Entity</a:t>
            </a:r>
            <a:endParaRPr/>
          </a:p>
        </p:txBody>
      </p:sp>
      <p:sp>
        <p:nvSpPr>
          <p:cNvPr id="383" name="Google Shape;383;p20"/>
          <p:cNvSpPr txBox="1"/>
          <p:nvPr/>
        </p:nvSpPr>
        <p:spPr>
          <a:xfrm>
            <a:off x="5229225" y="3050827"/>
            <a:ext cx="6191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MongoDB Atlas Cloud / Local</a:t>
            </a:r>
            <a:endParaRPr/>
          </a:p>
        </p:txBody>
      </p:sp>
      <p:sp>
        <p:nvSpPr>
          <p:cNvPr id="384" name="Google Shape;384;p20"/>
          <p:cNvSpPr txBox="1"/>
          <p:nvPr/>
        </p:nvSpPr>
        <p:spPr>
          <a:xfrm>
            <a:off x="6464300" y="3044152"/>
            <a:ext cx="2125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Trip Request &amp; Plan</a:t>
            </a:r>
            <a:endParaRPr/>
          </a:p>
        </p:txBody>
      </p:sp>
      <p:sp>
        <p:nvSpPr>
          <p:cNvPr id="385" name="Google Shape;385;p20"/>
          <p:cNvSpPr txBox="1"/>
          <p:nvPr/>
        </p:nvSpPr>
        <p:spPr>
          <a:xfrm>
            <a:off x="10391775" y="3050827"/>
            <a:ext cx="10382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SESSION STORE</a:t>
            </a:r>
            <a:endParaRPr/>
          </a:p>
        </p:txBody>
      </p:sp>
      <p:sp>
        <p:nvSpPr>
          <p:cNvPr id="386" name="Google Shape;386;p20"/>
          <p:cNvSpPr txBox="1"/>
          <p:nvPr/>
        </p:nvSpPr>
        <p:spPr>
          <a:xfrm>
            <a:off x="933450" y="4172863"/>
            <a:ext cx="2125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Community Contributions</a:t>
            </a:r>
            <a:endParaRPr/>
          </a:p>
        </p:txBody>
      </p:sp>
      <p:sp>
        <p:nvSpPr>
          <p:cNvPr id="387" name="Google Shape;387;p20"/>
          <p:cNvSpPr txBox="1"/>
          <p:nvPr/>
        </p:nvSpPr>
        <p:spPr>
          <a:xfrm>
            <a:off x="4924425" y="4184302"/>
            <a:ext cx="9239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Atlas Sync &amp; Duplicate Guard</a:t>
            </a:r>
            <a:endParaRPr/>
          </a:p>
        </p:txBody>
      </p:sp>
      <p:sp>
        <p:nvSpPr>
          <p:cNvPr id="388" name="Google Shape;388;p20"/>
          <p:cNvSpPr txBox="1"/>
          <p:nvPr/>
        </p:nvSpPr>
        <p:spPr>
          <a:xfrm>
            <a:off x="6464300" y="4172865"/>
            <a:ext cx="295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User Preferences &amp; Privacy</a:t>
            </a:r>
            <a:endParaRPr/>
          </a:p>
        </p:txBody>
      </p:sp>
      <p:sp>
        <p:nvSpPr>
          <p:cNvPr id="389" name="Google Shape;389;p20"/>
          <p:cNvSpPr txBox="1"/>
          <p:nvPr/>
        </p:nvSpPr>
        <p:spPr>
          <a:xfrm>
            <a:off x="10448925" y="4184302"/>
            <a:ext cx="9810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SECURE STORE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4" name="Google Shape;39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21"/>
          <p:cNvSpPr/>
          <p:nvPr/>
        </p:nvSpPr>
        <p:spPr>
          <a:xfrm>
            <a:off x="10115550" y="786705"/>
            <a:ext cx="1466850" cy="3238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1"/>
          <p:cNvSpPr/>
          <p:nvPr/>
        </p:nvSpPr>
        <p:spPr>
          <a:xfrm>
            <a:off x="609600" y="1377255"/>
            <a:ext cx="5372100" cy="5023544"/>
          </a:xfrm>
          <a:prstGeom prst="roundRect">
            <a:avLst>
              <a:gd fmla="val 3033" name="adj"/>
            </a:avLst>
          </a:prstGeom>
          <a:solidFill>
            <a:srgbClr val="ECFDF5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1"/>
          <p:cNvSpPr/>
          <p:nvPr/>
        </p:nvSpPr>
        <p:spPr>
          <a:xfrm>
            <a:off x="6210300" y="1377255"/>
            <a:ext cx="5372100" cy="5023544"/>
          </a:xfrm>
          <a:prstGeom prst="roundRect">
            <a:avLst>
              <a:gd fmla="val 3033" name="adj"/>
            </a:avLst>
          </a:prstGeom>
          <a:solidFill>
            <a:srgbClr val="F8FAF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1"/>
          <p:cNvSpPr/>
          <p:nvPr/>
        </p:nvSpPr>
        <p:spPr>
          <a:xfrm>
            <a:off x="609600" y="466725"/>
            <a:ext cx="1333500" cy="219075"/>
          </a:xfrm>
          <a:prstGeom prst="roundRect">
            <a:avLst>
              <a:gd fmla="val 26086" name="adj"/>
            </a:avLst>
          </a:prstGeom>
          <a:solidFill>
            <a:srgbClr val="F59E0B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1"/>
          <p:cNvSpPr/>
          <p:nvPr/>
        </p:nvSpPr>
        <p:spPr>
          <a:xfrm>
            <a:off x="857250" y="1634430"/>
            <a:ext cx="1466850" cy="219075"/>
          </a:xfrm>
          <a:prstGeom prst="roundRect">
            <a:avLst>
              <a:gd fmla="val 26086" name="adj"/>
            </a:avLst>
          </a:prstGeom>
          <a:solidFill>
            <a:srgbClr val="10B98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1"/>
          <p:cNvSpPr/>
          <p:nvPr/>
        </p:nvSpPr>
        <p:spPr>
          <a:xfrm>
            <a:off x="6457950" y="1634430"/>
            <a:ext cx="1438275" cy="219075"/>
          </a:xfrm>
          <a:prstGeom prst="roundRect">
            <a:avLst>
              <a:gd fmla="val 26086" name="adj"/>
            </a:avLst>
          </a:prstGeom>
          <a:solidFill>
            <a:srgbClr val="0B3BF4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01" name="Google Shape;40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67950" y="881955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2" name="Google Shape;40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2344042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3" name="Google Shape;40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2610742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4" name="Google Shape;40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2877442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5" name="Google Shape;40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3144142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6" name="Google Shape;40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3410842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7" name="Google Shape;407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57950" y="2344042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8" name="Google Shape;408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57950" y="2610742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9" name="Google Shape;409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57950" y="2877442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0" name="Google Shape;410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57950" y="3144142"/>
            <a:ext cx="11430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21"/>
          <p:cNvSpPr txBox="1"/>
          <p:nvPr/>
        </p:nvSpPr>
        <p:spPr>
          <a:xfrm>
            <a:off x="10458450" y="843855"/>
            <a:ext cx="10858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Execution Plan</a:t>
            </a:r>
            <a:endParaRPr/>
          </a:p>
        </p:txBody>
      </p:sp>
      <p:sp>
        <p:nvSpPr>
          <p:cNvPr id="412" name="Google Shape;412;p21"/>
          <p:cNvSpPr txBox="1"/>
          <p:nvPr/>
        </p:nvSpPr>
        <p:spPr>
          <a:xfrm>
            <a:off x="685800" y="495300"/>
            <a:ext cx="12763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ROADMAP</a:t>
            </a:r>
            <a:endParaRPr/>
          </a:p>
        </p:txBody>
      </p:sp>
      <p:sp>
        <p:nvSpPr>
          <p:cNvPr id="413" name="Google Shape;413;p21"/>
          <p:cNvSpPr txBox="1"/>
          <p:nvPr/>
        </p:nvSpPr>
        <p:spPr>
          <a:xfrm>
            <a:off x="609600" y="733425"/>
            <a:ext cx="7694711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Hackathon Scope &amp; Future Priorities</a:t>
            </a:r>
            <a:endParaRPr/>
          </a:p>
        </p:txBody>
      </p:sp>
      <p:sp>
        <p:nvSpPr>
          <p:cNvPr id="414" name="Google Shape;414;p21"/>
          <p:cNvSpPr txBox="1"/>
          <p:nvPr/>
        </p:nvSpPr>
        <p:spPr>
          <a:xfrm>
            <a:off x="247650" y="6010275"/>
            <a:ext cx="60960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4785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Ready for Judge Demo</a:t>
            </a:r>
            <a:endParaRPr/>
          </a:p>
        </p:txBody>
      </p:sp>
      <p:sp>
        <p:nvSpPr>
          <p:cNvPr id="415" name="Google Shape;415;p21"/>
          <p:cNvSpPr txBox="1"/>
          <p:nvPr/>
        </p:nvSpPr>
        <p:spPr>
          <a:xfrm>
            <a:off x="5848350" y="6010275"/>
            <a:ext cx="60960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Post-Hackathon Scaling</a:t>
            </a:r>
            <a:endParaRPr/>
          </a:p>
        </p:txBody>
      </p:sp>
      <p:sp>
        <p:nvSpPr>
          <p:cNvPr id="416" name="Google Shape;416;p21"/>
          <p:cNvSpPr txBox="1"/>
          <p:nvPr/>
        </p:nvSpPr>
        <p:spPr>
          <a:xfrm>
            <a:off x="933450" y="1663005"/>
            <a:ext cx="14097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PHASE 1 (COMPLETED)</a:t>
            </a:r>
            <a:endParaRPr/>
          </a:p>
        </p:txBody>
      </p:sp>
      <p:sp>
        <p:nvSpPr>
          <p:cNvPr id="417" name="Google Shape;417;p21"/>
          <p:cNvSpPr txBox="1"/>
          <p:nvPr/>
        </p:nvSpPr>
        <p:spPr>
          <a:xfrm>
            <a:off x="857250" y="1967805"/>
            <a:ext cx="64008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Journey &amp; Experience</a:t>
            </a:r>
            <a:endParaRPr/>
          </a:p>
        </p:txBody>
      </p:sp>
      <p:sp>
        <p:nvSpPr>
          <p:cNvPr id="418" name="Google Shape;418;p21"/>
          <p:cNvSpPr txBox="1"/>
          <p:nvPr/>
        </p:nvSpPr>
        <p:spPr>
          <a:xfrm>
            <a:off x="6534150" y="1663005"/>
            <a:ext cx="13811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PHASE 2 (NEXT STEPS)</a:t>
            </a:r>
            <a:endParaRPr/>
          </a:p>
        </p:txBody>
      </p:sp>
      <p:sp>
        <p:nvSpPr>
          <p:cNvPr id="419" name="Google Shape;419;p21"/>
          <p:cNvSpPr txBox="1"/>
          <p:nvPr/>
        </p:nvSpPr>
        <p:spPr>
          <a:xfrm>
            <a:off x="6457950" y="1967805"/>
            <a:ext cx="57340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Expansion &amp; Connectivity</a:t>
            </a:r>
            <a:endParaRPr/>
          </a:p>
        </p:txBody>
      </p:sp>
      <p:sp>
        <p:nvSpPr>
          <p:cNvPr id="420" name="Google Shape;420;p21"/>
          <p:cNvSpPr txBox="1"/>
          <p:nvPr/>
        </p:nvSpPr>
        <p:spPr>
          <a:xfrm>
            <a:off x="857250" y="2320230"/>
            <a:ext cx="6096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Dual Auto-GPS &amp; Manual Location</a:t>
            </a:r>
            <a:endParaRPr/>
          </a:p>
        </p:txBody>
      </p:sp>
      <p:sp>
        <p:nvSpPr>
          <p:cNvPr id="421" name="Google Shape;421;p21"/>
          <p:cNvSpPr txBox="1"/>
          <p:nvPr/>
        </p:nvSpPr>
        <p:spPr>
          <a:xfrm>
            <a:off x="857250" y="2586930"/>
            <a:ext cx="6096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Category Filters &amp; Map/Grid Views</a:t>
            </a:r>
            <a:endParaRPr/>
          </a:p>
        </p:txBody>
      </p:sp>
      <p:sp>
        <p:nvSpPr>
          <p:cNvPr id="422" name="Google Shape;422;p21"/>
          <p:cNvSpPr txBox="1"/>
          <p:nvPr/>
        </p:nvSpPr>
        <p:spPr>
          <a:xfrm>
            <a:off x="857250" y="2853630"/>
            <a:ext cx="6096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3-Plan AI Generation &amp; Details Sheet</a:t>
            </a:r>
            <a:endParaRPr/>
          </a:p>
        </p:txBody>
      </p:sp>
      <p:sp>
        <p:nvSpPr>
          <p:cNvPr id="423" name="Google Shape;423;p21"/>
          <p:cNvSpPr txBox="1"/>
          <p:nvPr/>
        </p:nvSpPr>
        <p:spPr>
          <a:xfrm>
            <a:off x="857250" y="3120330"/>
            <a:ext cx="6096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Adventure Trail &amp; Google Maps Links</a:t>
            </a:r>
            <a:endParaRPr/>
          </a:p>
        </p:txBody>
      </p:sp>
      <p:sp>
        <p:nvSpPr>
          <p:cNvPr id="424" name="Google Shape;424;p21"/>
          <p:cNvSpPr txBox="1"/>
          <p:nvPr/>
        </p:nvSpPr>
        <p:spPr>
          <a:xfrm>
            <a:off x="857250" y="3387030"/>
            <a:ext cx="6096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Local Telemetry &amp; Debug Interface</a:t>
            </a:r>
            <a:endParaRPr/>
          </a:p>
        </p:txBody>
      </p:sp>
      <p:sp>
        <p:nvSpPr>
          <p:cNvPr id="425" name="Google Shape;425;p21"/>
          <p:cNvSpPr txBox="1"/>
          <p:nvPr/>
        </p:nvSpPr>
        <p:spPr>
          <a:xfrm>
            <a:off x="6457950" y="2320230"/>
            <a:ext cx="57340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Native Android APK &amp; PWA Offline Package</a:t>
            </a:r>
            <a:endParaRPr/>
          </a:p>
        </p:txBody>
      </p:sp>
      <p:sp>
        <p:nvSpPr>
          <p:cNvPr id="426" name="Google Shape;426;p21"/>
          <p:cNvSpPr txBox="1"/>
          <p:nvPr/>
        </p:nvSpPr>
        <p:spPr>
          <a:xfrm>
            <a:off x="6457950" y="2586930"/>
            <a:ext cx="57340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Geospatial Duplicate Protection (±0.00001°)</a:t>
            </a:r>
            <a:endParaRPr/>
          </a:p>
        </p:txBody>
      </p:sp>
      <p:sp>
        <p:nvSpPr>
          <p:cNvPr id="427" name="Google Shape;427;p21"/>
          <p:cNvSpPr txBox="1"/>
          <p:nvPr/>
        </p:nvSpPr>
        <p:spPr>
          <a:xfrm>
            <a:off x="6457950" y="2853630"/>
            <a:ext cx="57340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Offline Vector Map Tile Caching</a:t>
            </a:r>
            <a:endParaRPr/>
          </a:p>
        </p:txBody>
      </p:sp>
      <p:sp>
        <p:nvSpPr>
          <p:cNvPr id="428" name="Google Shape;428;p21"/>
          <p:cNvSpPr txBox="1"/>
          <p:nvPr/>
        </p:nvSpPr>
        <p:spPr>
          <a:xfrm>
            <a:off x="6457950" y="3120330"/>
            <a:ext cx="57340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Dual-Strategy High-Accuracy Auto-GPS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33" name="Google Shape;43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351" y="-1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22"/>
          <p:cNvSpPr txBox="1"/>
          <p:nvPr/>
        </p:nvSpPr>
        <p:spPr>
          <a:xfrm>
            <a:off x="3186225" y="2960550"/>
            <a:ext cx="5744700" cy="1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00">
                <a:solidFill>
                  <a:srgbClr val="FFFB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THANK YOU</a:t>
            </a:r>
            <a:endParaRPr sz="3200">
              <a:solidFill>
                <a:srgbClr val="FFFBE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